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9" r:id="rId10"/>
    <p:sldId id="268" r:id="rId11"/>
    <p:sldId id="257" r:id="rId12"/>
    <p:sldId id="265" r:id="rId13"/>
    <p:sldId id="266" r:id="rId14"/>
    <p:sldId id="267" r:id="rId15"/>
    <p:sldId id="270" r:id="rId16"/>
  </p:sldIdLst>
  <p:sldSz cx="18288000" cy="10287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Playfair Display" panose="000005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414" y="114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224ad17c72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224ad17c72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224ad17c72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224ad17c72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22485af5c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22485af5c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LSEM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224ad17c72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224ad17c72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25aa8ce8db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25aa8ce8db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292929"/>
                </a:solidFill>
              </a:rPr>
              <a:t>•Exposure A: Locking Wuhan down on Jan 23rd, 2020, followed by 12 other cities in Hubei, known as “2020 Hubei lockdowns”;</a:t>
            </a:r>
            <a:endParaRPr sz="2100">
              <a:solidFill>
                <a:srgbClr val="29292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292929"/>
                </a:solidFill>
              </a:rPr>
              <a:t>•Outcome Y : Stopping virus spreading;</a:t>
            </a:r>
            <a:endParaRPr sz="2100">
              <a:solidFill>
                <a:srgbClr val="29292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292929"/>
                </a:solidFill>
              </a:rPr>
              <a:t>•Mediators M: Migration scale of major Chinese cities outside Hubei, significantly reduced due to the lockdown and thus blocked the epidemic spread.;</a:t>
            </a:r>
            <a:endParaRPr sz="2100">
              <a:solidFill>
                <a:srgbClr val="29292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292929"/>
                </a:solidFill>
              </a:rPr>
              <a:t>Specifically, the number of mediators is 30 and sample size is 38 under this scenario.</a:t>
            </a:r>
            <a:endParaRPr sz="2100">
              <a:solidFill>
                <a:srgbClr val="29292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25b7f03717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25b7f03717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224ad17c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224ad17c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25ac243fd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25ac243fd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25ac243fdb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25ac243fdb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224ad17c72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224ad17c72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25ca531d40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25ca531d40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25b7f03717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25b7f03717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224ad17c72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224ad17c72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224ad17c72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224ad17c72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25ca531d40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25ca531d40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379600" y="5407525"/>
            <a:ext cx="17404500" cy="368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379600" y="1632650"/>
            <a:ext cx="17328600" cy="3168600"/>
          </a:xfrm>
          <a:prstGeom prst="rect">
            <a:avLst/>
          </a:prstGeom>
          <a:noFill/>
        </p:spPr>
        <p:txBody>
          <a:bodyPr spcFirstLastPara="1" wrap="square" lIns="182850" tIns="182850" rIns="182850" bIns="18285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Lato"/>
              <a:buNone/>
              <a:defRPr sz="7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Lato"/>
              <a:buNone/>
              <a:defRPr sz="7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Lato"/>
              <a:buNone/>
              <a:defRPr sz="7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Lato"/>
              <a:buNone/>
              <a:defRPr sz="7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Lato"/>
              <a:buNone/>
              <a:defRPr sz="7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Lato"/>
              <a:buNone/>
              <a:defRPr sz="7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Lato"/>
              <a:buNone/>
              <a:defRPr sz="7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Lato"/>
              <a:buNone/>
              <a:defRPr sz="7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844600" y="5617225"/>
            <a:ext cx="16398600" cy="3262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sz="36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sz="36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sz="36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sz="36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sz="36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sz="36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sz="36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sz="36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1019100" y="2847750"/>
            <a:ext cx="16249800" cy="3596400"/>
          </a:xfrm>
          <a:prstGeom prst="rect">
            <a:avLst/>
          </a:prstGeom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sz="96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sz="96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sz="96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sz="96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sz="96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sz="96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sz="96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sz="96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1019100" y="2847750"/>
            <a:ext cx="16249800" cy="3596400"/>
          </a:xfrm>
          <a:prstGeom prst="rect">
            <a:avLst/>
          </a:prstGeom>
          <a:solidFill>
            <a:schemeClr val="lt1"/>
          </a:solidFill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sz="96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sz="96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sz="96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sz="96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sz="96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sz="96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sz="96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sz="96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94800" y="858900"/>
            <a:ext cx="17041200" cy="1252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623400" y="2228750"/>
            <a:ext cx="170412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50850">
              <a:spcBef>
                <a:spcPts val="0"/>
              </a:spcBef>
              <a:spcAft>
                <a:spcPts val="0"/>
              </a:spcAft>
              <a:buSzPts val="3500"/>
              <a:buChar char="●"/>
              <a:defRPr sz="3500"/>
            </a:lvl1pPr>
            <a:lvl2pPr marL="914400" lvl="1" indent="-450850">
              <a:spcBef>
                <a:spcPts val="3200"/>
              </a:spcBef>
              <a:spcAft>
                <a:spcPts val="0"/>
              </a:spcAft>
              <a:buSzPts val="3500"/>
              <a:buChar char="○"/>
              <a:defRPr/>
            </a:lvl2pPr>
            <a:lvl3pPr marL="1371600" lvl="2" indent="-450850">
              <a:spcBef>
                <a:spcPts val="3200"/>
              </a:spcBef>
              <a:spcAft>
                <a:spcPts val="0"/>
              </a:spcAft>
              <a:buSzPts val="3500"/>
              <a:buChar char="■"/>
              <a:defRPr/>
            </a:lvl3pPr>
            <a:lvl4pPr marL="1828800" lvl="3" indent="-450850">
              <a:spcBef>
                <a:spcPts val="3200"/>
              </a:spcBef>
              <a:spcAft>
                <a:spcPts val="0"/>
              </a:spcAft>
              <a:buSzPts val="3500"/>
              <a:buChar char="●"/>
              <a:defRPr/>
            </a:lvl4pPr>
            <a:lvl5pPr marL="2286000" lvl="4" indent="-450850">
              <a:spcBef>
                <a:spcPts val="3200"/>
              </a:spcBef>
              <a:spcAft>
                <a:spcPts val="0"/>
              </a:spcAft>
              <a:buSzPts val="3500"/>
              <a:buChar char="○"/>
              <a:defRPr/>
            </a:lvl5pPr>
            <a:lvl6pPr marL="2743200" lvl="5" indent="-450850">
              <a:spcBef>
                <a:spcPts val="3200"/>
              </a:spcBef>
              <a:spcAft>
                <a:spcPts val="0"/>
              </a:spcAft>
              <a:buSzPts val="3500"/>
              <a:buChar char="■"/>
              <a:defRPr/>
            </a:lvl6pPr>
            <a:lvl7pPr marL="3200400" lvl="6" indent="-450850">
              <a:spcBef>
                <a:spcPts val="3200"/>
              </a:spcBef>
              <a:spcAft>
                <a:spcPts val="0"/>
              </a:spcAft>
              <a:buSzPts val="3500"/>
              <a:buChar char="●"/>
              <a:defRPr/>
            </a:lvl7pPr>
            <a:lvl8pPr marL="3657600" lvl="7" indent="-450850">
              <a:spcBef>
                <a:spcPts val="3200"/>
              </a:spcBef>
              <a:spcAft>
                <a:spcPts val="0"/>
              </a:spcAft>
              <a:buSzPts val="3500"/>
              <a:buChar char="○"/>
              <a:defRPr/>
            </a:lvl8pPr>
            <a:lvl9pPr marL="4114800" lvl="8" indent="-450850">
              <a:spcBef>
                <a:spcPts val="3200"/>
              </a:spcBef>
              <a:spcAft>
                <a:spcPts val="3200"/>
              </a:spcAft>
              <a:buSzPts val="35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394800" y="858900"/>
            <a:ext cx="17041200" cy="1252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623400" y="222875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50850">
              <a:spcBef>
                <a:spcPts val="0"/>
              </a:spcBef>
              <a:spcAft>
                <a:spcPts val="0"/>
              </a:spcAft>
              <a:buSzPts val="3500"/>
              <a:buChar char="●"/>
              <a:defRPr sz="3500"/>
            </a:lvl1pPr>
            <a:lvl2pPr marL="914400" lvl="1" indent="-45085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2pPr>
            <a:lvl3pPr marL="1371600" lvl="2" indent="-45085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3pPr>
            <a:lvl4pPr marL="1828800" lvl="3" indent="-45085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4pPr>
            <a:lvl5pPr marL="2286000" lvl="4" indent="-45085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5pPr>
            <a:lvl6pPr marL="2743200" lvl="5" indent="-45085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6pPr>
            <a:lvl7pPr marL="3200400" lvl="6" indent="-45085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7pPr>
            <a:lvl8pPr marL="3657600" lvl="7" indent="-45085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8pPr>
            <a:lvl9pPr marL="4114800" lvl="8" indent="-450850">
              <a:spcBef>
                <a:spcPts val="3200"/>
              </a:spcBef>
              <a:spcAft>
                <a:spcPts val="3200"/>
              </a:spcAft>
              <a:buSzPts val="3500"/>
              <a:buChar char="■"/>
              <a:defRPr sz="35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9664800" y="222875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50850">
              <a:spcBef>
                <a:spcPts val="0"/>
              </a:spcBef>
              <a:spcAft>
                <a:spcPts val="0"/>
              </a:spcAft>
              <a:buSzPts val="3500"/>
              <a:buChar char="●"/>
              <a:defRPr sz="3500"/>
            </a:lvl1pPr>
            <a:lvl2pPr marL="914400" lvl="1" indent="-45085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2pPr>
            <a:lvl3pPr marL="1371600" lvl="2" indent="-45085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3pPr>
            <a:lvl4pPr marL="1828800" lvl="3" indent="-45085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4pPr>
            <a:lvl5pPr marL="2286000" lvl="4" indent="-45085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5pPr>
            <a:lvl6pPr marL="2743200" lvl="5" indent="-45085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6pPr>
            <a:lvl7pPr marL="3200400" lvl="6" indent="-45085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7pPr>
            <a:lvl8pPr marL="3657600" lvl="7" indent="-45085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8pPr>
            <a:lvl9pPr marL="4114800" lvl="8" indent="-450850">
              <a:spcBef>
                <a:spcPts val="3200"/>
              </a:spcBef>
              <a:spcAft>
                <a:spcPts val="3200"/>
              </a:spcAft>
              <a:buSzPts val="3500"/>
              <a:buChar char="■"/>
              <a:defRPr sz="35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94800" y="858900"/>
            <a:ext cx="17041200" cy="1252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71000" y="1263600"/>
            <a:ext cx="5616000" cy="15114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body" idx="1"/>
          </p:nvPr>
        </p:nvSpPr>
        <p:spPr>
          <a:xfrm>
            <a:off x="623400" y="2782755"/>
            <a:ext cx="5616000" cy="6358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50850">
              <a:spcBef>
                <a:spcPts val="0"/>
              </a:spcBef>
              <a:spcAft>
                <a:spcPts val="0"/>
              </a:spcAft>
              <a:buSzPts val="3500"/>
              <a:buChar char="●"/>
              <a:defRPr sz="3500"/>
            </a:lvl1pPr>
            <a:lvl2pPr marL="914400" lvl="1" indent="-45085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2pPr>
            <a:lvl3pPr marL="1371600" lvl="2" indent="-45085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3pPr>
            <a:lvl4pPr marL="1828800" lvl="3" indent="-45085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4pPr>
            <a:lvl5pPr marL="2286000" lvl="4" indent="-45085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5pPr>
            <a:lvl6pPr marL="2743200" lvl="5" indent="-45085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6pPr>
            <a:lvl7pPr marL="3200400" lvl="6" indent="-45085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7pPr>
            <a:lvl8pPr marL="3657600" lvl="7" indent="-45085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8pPr>
            <a:lvl9pPr marL="4114800" lvl="8" indent="-450850">
              <a:spcBef>
                <a:spcPts val="3200"/>
              </a:spcBef>
              <a:spcAft>
                <a:spcPts val="3200"/>
              </a:spcAft>
              <a:buSzPts val="3500"/>
              <a:buChar char="■"/>
              <a:defRPr sz="35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CCCCCC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980500" y="1052700"/>
            <a:ext cx="15342000" cy="81816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600"/>
              <a:buNone/>
              <a:defRPr sz="9600"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sz="96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sz="96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sz="96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sz="96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sz="96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sz="96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sz="96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sz="96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639000" y="8461150"/>
            <a:ext cx="11997600" cy="11976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None/>
              <a:defRPr>
                <a:solidFill>
                  <a:srgbClr val="000000"/>
                </a:solidFill>
              </a:defRPr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623400" y="2466200"/>
            <a:ext cx="17041200" cy="32202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623400" y="5838900"/>
            <a:ext cx="17041200" cy="2143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50850" algn="ctr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marL="914400" lvl="1" indent="-450850" algn="ctr">
              <a:spcBef>
                <a:spcPts val="3200"/>
              </a:spcBef>
              <a:spcAft>
                <a:spcPts val="0"/>
              </a:spcAft>
              <a:buSzPts val="3500"/>
              <a:buChar char="○"/>
              <a:defRPr/>
            </a:lvl2pPr>
            <a:lvl3pPr marL="1371600" lvl="2" indent="-450850" algn="ctr">
              <a:spcBef>
                <a:spcPts val="3200"/>
              </a:spcBef>
              <a:spcAft>
                <a:spcPts val="0"/>
              </a:spcAft>
              <a:buSzPts val="3500"/>
              <a:buChar char="■"/>
              <a:defRPr/>
            </a:lvl3pPr>
            <a:lvl4pPr marL="1828800" lvl="3" indent="-450850" algn="ctr">
              <a:spcBef>
                <a:spcPts val="3200"/>
              </a:spcBef>
              <a:spcAft>
                <a:spcPts val="0"/>
              </a:spcAft>
              <a:buSzPts val="3500"/>
              <a:buChar char="●"/>
              <a:defRPr/>
            </a:lvl4pPr>
            <a:lvl5pPr marL="2286000" lvl="4" indent="-450850" algn="ctr">
              <a:spcBef>
                <a:spcPts val="3200"/>
              </a:spcBef>
              <a:spcAft>
                <a:spcPts val="0"/>
              </a:spcAft>
              <a:buSzPts val="3500"/>
              <a:buChar char="○"/>
              <a:defRPr/>
            </a:lvl5pPr>
            <a:lvl6pPr marL="2743200" lvl="5" indent="-450850" algn="ctr">
              <a:spcBef>
                <a:spcPts val="3200"/>
              </a:spcBef>
              <a:spcAft>
                <a:spcPts val="0"/>
              </a:spcAft>
              <a:buSzPts val="3500"/>
              <a:buChar char="■"/>
              <a:defRPr/>
            </a:lvl6pPr>
            <a:lvl7pPr marL="3200400" lvl="6" indent="-450850" algn="ctr">
              <a:spcBef>
                <a:spcPts val="3200"/>
              </a:spcBef>
              <a:spcAft>
                <a:spcPts val="0"/>
              </a:spcAft>
              <a:buSzPts val="3500"/>
              <a:buChar char="●"/>
              <a:defRPr/>
            </a:lvl7pPr>
            <a:lvl8pPr marL="3657600" lvl="7" indent="-450850" algn="ctr">
              <a:spcBef>
                <a:spcPts val="3200"/>
              </a:spcBef>
              <a:spcAft>
                <a:spcPts val="0"/>
              </a:spcAft>
              <a:buSzPts val="3500"/>
              <a:buChar char="○"/>
              <a:defRPr/>
            </a:lvl8pPr>
            <a:lvl9pPr marL="4114800" lvl="8" indent="-450850" algn="ctr">
              <a:spcBef>
                <a:spcPts val="3200"/>
              </a:spcBef>
              <a:spcAft>
                <a:spcPts val="3200"/>
              </a:spcAft>
              <a:buSzPts val="35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oral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94800" y="858900"/>
            <a:ext cx="17041200" cy="12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sz="64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sz="64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sz="64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sz="64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sz="64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sz="64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sz="64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sz="64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3400" y="22287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50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Char char="●"/>
              <a:defRPr sz="3500">
                <a:solidFill>
                  <a:srgbClr val="434343"/>
                </a:solidFill>
              </a:defRPr>
            </a:lvl1pPr>
            <a:lvl2pPr marL="914400" lvl="1" indent="-45085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○"/>
              <a:defRPr sz="3500">
                <a:solidFill>
                  <a:srgbClr val="434343"/>
                </a:solidFill>
              </a:defRPr>
            </a:lvl2pPr>
            <a:lvl3pPr marL="1371600" lvl="2" indent="-45085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■"/>
              <a:defRPr sz="3500">
                <a:solidFill>
                  <a:srgbClr val="434343"/>
                </a:solidFill>
              </a:defRPr>
            </a:lvl3pPr>
            <a:lvl4pPr marL="1828800" lvl="3" indent="-45085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●"/>
              <a:defRPr sz="3500">
                <a:solidFill>
                  <a:srgbClr val="434343"/>
                </a:solidFill>
              </a:defRPr>
            </a:lvl4pPr>
            <a:lvl5pPr marL="2286000" lvl="4" indent="-45085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○"/>
              <a:defRPr sz="3500">
                <a:solidFill>
                  <a:srgbClr val="434343"/>
                </a:solidFill>
              </a:defRPr>
            </a:lvl5pPr>
            <a:lvl6pPr marL="2743200" lvl="5" indent="-45085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■"/>
              <a:defRPr sz="3500">
                <a:solidFill>
                  <a:srgbClr val="434343"/>
                </a:solidFill>
              </a:defRPr>
            </a:lvl6pPr>
            <a:lvl7pPr marL="3200400" lvl="6" indent="-45085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●"/>
              <a:defRPr sz="3500">
                <a:solidFill>
                  <a:srgbClr val="434343"/>
                </a:solidFill>
              </a:defRPr>
            </a:lvl7pPr>
            <a:lvl8pPr marL="3657600" lvl="7" indent="-45085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○"/>
              <a:defRPr sz="3500">
                <a:solidFill>
                  <a:srgbClr val="434343"/>
                </a:solidFill>
              </a:defRPr>
            </a:lvl8pPr>
            <a:lvl9pPr marL="4114800" lvl="8" indent="-450850">
              <a:lnSpc>
                <a:spcPct val="115000"/>
              </a:lnSpc>
              <a:spcBef>
                <a:spcPts val="3200"/>
              </a:spcBef>
              <a:spcAft>
                <a:spcPts val="3200"/>
              </a:spcAft>
              <a:buClr>
                <a:srgbClr val="434343"/>
              </a:buClr>
              <a:buSzPts val="3500"/>
              <a:buChar char="■"/>
              <a:defRPr sz="35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>
            <a:lvl1pPr lvl="0" algn="r">
              <a:buNone/>
              <a:defRPr sz="2600"/>
            </a:lvl1pPr>
            <a:lvl2pPr lvl="1" algn="r">
              <a:buNone/>
              <a:defRPr sz="2600"/>
            </a:lvl2pPr>
            <a:lvl3pPr lvl="2" algn="r">
              <a:buNone/>
              <a:defRPr sz="2600"/>
            </a:lvl3pPr>
            <a:lvl4pPr lvl="3" algn="r">
              <a:buNone/>
              <a:defRPr sz="2600"/>
            </a:lvl4pPr>
            <a:lvl5pPr lvl="4" algn="r">
              <a:buNone/>
              <a:defRPr sz="2600"/>
            </a:lvl5pPr>
            <a:lvl6pPr lvl="5" algn="r">
              <a:buNone/>
              <a:defRPr sz="2600"/>
            </a:lvl6pPr>
            <a:lvl7pPr lvl="6" algn="r">
              <a:buNone/>
              <a:defRPr sz="2600"/>
            </a:lvl7pPr>
            <a:lvl8pPr lvl="7" algn="r">
              <a:buNone/>
              <a:defRPr sz="2600"/>
            </a:lvl8pPr>
            <a:lvl9pPr lvl="8" algn="r">
              <a:buNone/>
              <a:defRPr sz="2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617162" y="260575"/>
            <a:ext cx="3053676" cy="480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Google Shape;10;p1"/>
          <p:cNvCxnSpPr/>
          <p:nvPr/>
        </p:nvCxnSpPr>
        <p:spPr>
          <a:xfrm>
            <a:off x="417550" y="493750"/>
            <a:ext cx="6908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1"/>
          <p:cNvCxnSpPr/>
          <p:nvPr/>
        </p:nvCxnSpPr>
        <p:spPr>
          <a:xfrm>
            <a:off x="10913325" y="500913"/>
            <a:ext cx="6908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g"/><Relationship Id="rId3" Type="http://schemas.openxmlformats.org/officeDocument/2006/relationships/image" Target="../media/image32.png"/><Relationship Id="rId7" Type="http://schemas.openxmlformats.org/officeDocument/2006/relationships/image" Target="../media/image3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jpg"/><Relationship Id="rId5" Type="http://schemas.openxmlformats.org/officeDocument/2006/relationships/image" Target="../media/image34.png"/><Relationship Id="rId10" Type="http://schemas.openxmlformats.org/officeDocument/2006/relationships/image" Target="../media/image39.jpg"/><Relationship Id="rId4" Type="http://schemas.openxmlformats.org/officeDocument/2006/relationships/image" Target="../media/image33.png"/><Relationship Id="rId9" Type="http://schemas.openxmlformats.org/officeDocument/2006/relationships/image" Target="../media/image38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g"/><Relationship Id="rId3" Type="http://schemas.openxmlformats.org/officeDocument/2006/relationships/image" Target="../media/image32.png"/><Relationship Id="rId7" Type="http://schemas.openxmlformats.org/officeDocument/2006/relationships/image" Target="../media/image4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jpg"/><Relationship Id="rId5" Type="http://schemas.openxmlformats.org/officeDocument/2006/relationships/image" Target="../media/image41.jpg"/><Relationship Id="rId4" Type="http://schemas.openxmlformats.org/officeDocument/2006/relationships/image" Target="../media/image40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24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25.png"/><Relationship Id="rId9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11" Type="http://schemas.openxmlformats.org/officeDocument/2006/relationships/image" Target="../media/image16.png"/><Relationship Id="rId5" Type="http://schemas.openxmlformats.org/officeDocument/2006/relationships/image" Target="../media/image18.png"/><Relationship Id="rId10" Type="http://schemas.openxmlformats.org/officeDocument/2006/relationships/image" Target="../media/image5.png"/><Relationship Id="rId4" Type="http://schemas.openxmlformats.org/officeDocument/2006/relationships/image" Target="../media/image17.png"/><Relationship Id="rId9" Type="http://schemas.openxmlformats.org/officeDocument/2006/relationships/image" Target="../media/image23.png"/><Relationship Id="rId1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2317315" y="1735274"/>
            <a:ext cx="13653369" cy="31686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/>
              <a:t>Constrained DAG Structure Learning via </a:t>
            </a:r>
            <a:br>
              <a:rPr lang="en-US" sz="4800" dirty="0"/>
            </a:br>
            <a:r>
              <a:rPr lang="en-US" sz="4800" dirty="0"/>
              <a:t>Variational Auto Encoder</a:t>
            </a:r>
            <a:endParaRPr sz="4800" dirty="0"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2459775" y="6248750"/>
            <a:ext cx="15536400" cy="1064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20124D"/>
                </a:solidFill>
              </a:rPr>
              <a:t>Group member:          </a:t>
            </a:r>
            <a:r>
              <a:rPr lang="en" sz="2800" b="1" dirty="0">
                <a:solidFill>
                  <a:srgbClr val="20124D"/>
                </a:solidFill>
              </a:rPr>
              <a:t>Ruohan Liao                 Yaqin Si                       Colin Moore</a:t>
            </a:r>
            <a:endParaRPr sz="2800" b="1" dirty="0">
              <a:solidFill>
                <a:srgbClr val="20124D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20124D"/>
                </a:solidFill>
              </a:rPr>
              <a:t>Major:           	        Bioinformatics                 Bioinformatics 	         Computer Science</a:t>
            </a:r>
            <a:endParaRPr sz="2800" dirty="0">
              <a:solidFill>
                <a:srgbClr val="20124D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20124D"/>
              </a:solidFill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6678875" y="8196025"/>
            <a:ext cx="4600500" cy="1064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20124D"/>
                </a:solidFill>
              </a:rPr>
              <a:t>ECE 542:  Neural Network</a:t>
            </a:r>
            <a:endParaRPr sz="2800">
              <a:solidFill>
                <a:srgbClr val="20124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82478" y="1835848"/>
            <a:ext cx="7595533" cy="5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5"/>
          <p:cNvSpPr txBox="1"/>
          <p:nvPr/>
        </p:nvSpPr>
        <p:spPr>
          <a:xfrm>
            <a:off x="1926750" y="8037025"/>
            <a:ext cx="155463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800">
                <a:latin typeface="Times New Roman"/>
                <a:ea typeface="Times New Roman"/>
                <a:cs typeface="Times New Roman"/>
                <a:sym typeface="Times New Roman"/>
              </a:rPr>
              <a:t>Figure 1: The illustration of </a:t>
            </a:r>
            <a:r>
              <a:rPr lang="e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DAGs with different types of mediators</a:t>
            </a:r>
            <a:r>
              <a:rPr lang="en" sz="2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800">
                <a:latin typeface="Times New Roman"/>
                <a:ea typeface="Times New Roman"/>
                <a:cs typeface="Times New Roman"/>
                <a:sym typeface="Times New Roman"/>
              </a:rPr>
              <a:t>Left: Network representation                                             Right: Graph weighted matrix representation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</p:txBody>
      </p:sp>
      <p:sp>
        <p:nvSpPr>
          <p:cNvPr id="93" name="Google Shape;93;p15"/>
          <p:cNvSpPr txBox="1"/>
          <p:nvPr/>
        </p:nvSpPr>
        <p:spPr>
          <a:xfrm>
            <a:off x="10847300" y="6622575"/>
            <a:ext cx="5932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800">
                <a:latin typeface="Times New Roman"/>
                <a:ea typeface="Times New Roman"/>
                <a:cs typeface="Times New Roman"/>
                <a:sym typeface="Times New Roman"/>
              </a:rPr>
              <a:t>Weighted DAG with weight matrix B.</a:t>
            </a:r>
            <a:endParaRPr sz="2800"/>
          </a:p>
        </p:txBody>
      </p:sp>
      <p:sp>
        <p:nvSpPr>
          <p:cNvPr id="94" name="Google Shape;94;p15"/>
          <p:cNvSpPr txBox="1"/>
          <p:nvPr/>
        </p:nvSpPr>
        <p:spPr>
          <a:xfrm>
            <a:off x="375525" y="692875"/>
            <a:ext cx="4885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1.Object</a:t>
            </a:r>
            <a:endParaRPr sz="4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" name="Google Shape;95;p15"/>
          <p:cNvGrpSpPr/>
          <p:nvPr/>
        </p:nvGrpSpPr>
        <p:grpSpPr>
          <a:xfrm>
            <a:off x="10688954" y="2206100"/>
            <a:ext cx="5725876" cy="4183025"/>
            <a:chOff x="10480502" y="1954925"/>
            <a:chExt cx="5725876" cy="4183025"/>
          </a:xfrm>
        </p:grpSpPr>
        <p:pic>
          <p:nvPicPr>
            <p:cNvPr id="96" name="Google Shape;96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480502" y="1954925"/>
              <a:ext cx="5725876" cy="4183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2692000" y="3280125"/>
              <a:ext cx="2246800" cy="1789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8" name="Google Shape;98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847288" y="1000075"/>
            <a:ext cx="2246800" cy="91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407125" y="1182600"/>
            <a:ext cx="2370322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983849" y="4911625"/>
            <a:ext cx="3424377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" sz="2800" dirty="0">
                <a:latin typeface="Times New Roman"/>
                <a:ea typeface="Times New Roman"/>
                <a:cs typeface="Times New Roman"/>
                <a:sym typeface="Times New Roman"/>
              </a:rPr>
              <a:t>:      Exposure</a:t>
            </a:r>
            <a:r>
              <a:rPr lang="en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2800" dirty="0">
                <a:latin typeface="Times New Roman"/>
                <a:ea typeface="Times New Roman"/>
                <a:cs typeface="Times New Roman"/>
                <a:sym typeface="Times New Roman"/>
              </a:rPr>
              <a:t>:	Mediators 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2800" dirty="0">
                <a:latin typeface="Times New Roman"/>
                <a:ea typeface="Times New Roman"/>
                <a:cs typeface="Times New Roman"/>
                <a:sym typeface="Times New Roman"/>
              </a:rPr>
              <a:t>:      Outcome </a:t>
            </a:r>
            <a:endParaRPr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/>
        </p:nvSpPr>
        <p:spPr>
          <a:xfrm>
            <a:off x="1206225" y="21341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106" name="Google Shape;106;p16"/>
          <p:cNvSpPr txBox="1"/>
          <p:nvPr/>
        </p:nvSpPr>
        <p:spPr>
          <a:xfrm>
            <a:off x="375525" y="692875"/>
            <a:ext cx="48852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2.Method</a:t>
            </a:r>
            <a:endParaRPr sz="4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1318125" y="1523000"/>
            <a:ext cx="8985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B5394"/>
                </a:solidFill>
              </a:rPr>
              <a:t>2.1 Linear structural equation model(LSEM)</a:t>
            </a:r>
            <a:endParaRPr sz="3200">
              <a:solidFill>
                <a:srgbClr val="0B5394"/>
              </a:solidFill>
            </a:endParaRPr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0875" y="2388175"/>
            <a:ext cx="2065200" cy="84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8525" y="2502800"/>
            <a:ext cx="2633400" cy="61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2675" y="2388163"/>
            <a:ext cx="3372301" cy="84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53375" y="3553925"/>
            <a:ext cx="13362899" cy="329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67663" y="6972300"/>
            <a:ext cx="6486525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02700" y="4429113"/>
            <a:ext cx="98107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02700" y="7615000"/>
            <a:ext cx="9810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10964025" y="2502800"/>
            <a:ext cx="5932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800">
                <a:latin typeface="Times New Roman"/>
                <a:ea typeface="Times New Roman"/>
                <a:cs typeface="Times New Roman"/>
                <a:sym typeface="Times New Roman"/>
              </a:rPr>
              <a:t>Weighted DAG with weight matrix B.</a:t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94405" y="8508476"/>
            <a:ext cx="3982570" cy="10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394800" y="976550"/>
            <a:ext cx="17041200" cy="1252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800"/>
              <a:buFont typeface="Calibri"/>
              <a:buNone/>
            </a:pPr>
            <a:r>
              <a:rPr lang="en" sz="320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2.2 Constrained structural learning—A</a:t>
            </a:r>
            <a:r>
              <a:rPr lang="en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NOCE: CVAE algorithm</a:t>
            </a:r>
            <a:endParaRPr sz="3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</p:txBody>
      </p:sp>
      <p:sp>
        <p:nvSpPr>
          <p:cNvPr id="122" name="Google Shape;122;p17"/>
          <p:cNvSpPr txBox="1">
            <a:spLocks noGrp="1"/>
          </p:cNvSpPr>
          <p:nvPr>
            <p:ph type="body" idx="1"/>
          </p:nvPr>
        </p:nvSpPr>
        <p:spPr>
          <a:xfrm>
            <a:off x="414600" y="1875250"/>
            <a:ext cx="17458800" cy="1606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800">
                <a:solidFill>
                  <a:srgbClr val="000000"/>
                </a:solidFill>
              </a:rPr>
              <a:t>A type of deep generative model, </a:t>
            </a:r>
            <a:r>
              <a:rPr lang="en" sz="2800">
                <a:solidFill>
                  <a:srgbClr val="2F5496"/>
                </a:solidFill>
              </a:rPr>
              <a:t>Variational Autoencoders: VAE </a:t>
            </a:r>
            <a:endParaRPr sz="2800">
              <a:solidFill>
                <a:srgbClr val="2F5496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800">
                <a:solidFill>
                  <a:srgbClr val="292929"/>
                </a:solidFill>
              </a:rPr>
              <a:t>– assume actual data is generated from probability distribution of some latent variable</a:t>
            </a:r>
            <a:endParaRPr sz="2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3200"/>
              </a:spcAft>
              <a:buNone/>
            </a:pPr>
            <a:endParaRPr sz="2800"/>
          </a:p>
        </p:txBody>
      </p:sp>
      <p:pic>
        <p:nvPicPr>
          <p:cNvPr id="123" name="Google Shape;123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6474" y="3868013"/>
            <a:ext cx="3514322" cy="1071015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4" name="Google Shape;124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81075" y="3777425"/>
            <a:ext cx="4093374" cy="1252199"/>
          </a:xfrm>
          <a:prstGeom prst="rect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5" name="Google Shape;125;p17"/>
          <p:cNvSpPr/>
          <p:nvPr/>
        </p:nvSpPr>
        <p:spPr>
          <a:xfrm>
            <a:off x="4714513" y="4227575"/>
            <a:ext cx="622800" cy="351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531050" y="6968175"/>
            <a:ext cx="1632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2800"/>
              <a:t>Objective function and penalties:</a:t>
            </a:r>
            <a:endParaRPr sz="2800"/>
          </a:p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6">
            <a:alphaModFix/>
          </a:blip>
          <a:srcRect l="2534" t="18015" b="35203"/>
          <a:stretch/>
        </p:blipFill>
        <p:spPr>
          <a:xfrm>
            <a:off x="3629450" y="7591900"/>
            <a:ext cx="13266426" cy="9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839800" y="5443300"/>
            <a:ext cx="8934600" cy="11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Random error ε treated as the independent latent variables to generate X</a:t>
            </a:r>
            <a:endParaRPr sz="2800"/>
          </a:p>
        </p:txBody>
      </p:sp>
      <p:sp>
        <p:nvSpPr>
          <p:cNvPr id="129" name="Google Shape;129;p17"/>
          <p:cNvSpPr txBox="1"/>
          <p:nvPr/>
        </p:nvSpPr>
        <p:spPr>
          <a:xfrm>
            <a:off x="2817675" y="9479425"/>
            <a:ext cx="3084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Acyclicity constraint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10407851" y="9579475"/>
            <a:ext cx="4480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Topological ordering constraint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1" name="Google Shape;131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00070" y="8744650"/>
            <a:ext cx="6953349" cy="73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1139875" y="7586000"/>
            <a:ext cx="3000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Evidence Lower Bound (ELBO)</a:t>
            </a:r>
            <a:endParaRPr sz="2200">
              <a:solidFill>
                <a:schemeClr val="dk1"/>
              </a:solidFill>
            </a:endParaRPr>
          </a:p>
        </p:txBody>
      </p:sp>
      <p:grpSp>
        <p:nvGrpSpPr>
          <p:cNvPr id="133" name="Google Shape;133;p17"/>
          <p:cNvGrpSpPr/>
          <p:nvPr/>
        </p:nvGrpSpPr>
        <p:grpSpPr>
          <a:xfrm>
            <a:off x="12127650" y="3198475"/>
            <a:ext cx="5028600" cy="3890050"/>
            <a:chOff x="12127650" y="3198475"/>
            <a:chExt cx="5028600" cy="3890050"/>
          </a:xfrm>
        </p:grpSpPr>
        <p:pic>
          <p:nvPicPr>
            <p:cNvPr id="134" name="Google Shape;134;p17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2127650" y="3198475"/>
              <a:ext cx="5028600" cy="3890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" name="Google Shape;135;p17"/>
            <p:cNvSpPr txBox="1"/>
            <p:nvPr/>
          </p:nvSpPr>
          <p:spPr>
            <a:xfrm>
              <a:off x="13138150" y="5718963"/>
              <a:ext cx="1055400" cy="461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P(੬|X)</a:t>
              </a:r>
              <a:endParaRPr sz="1800"/>
            </a:p>
          </p:txBody>
        </p:sp>
        <p:sp>
          <p:nvSpPr>
            <p:cNvPr id="136" name="Google Shape;136;p17"/>
            <p:cNvSpPr txBox="1"/>
            <p:nvPr/>
          </p:nvSpPr>
          <p:spPr>
            <a:xfrm>
              <a:off x="15207900" y="5722588"/>
              <a:ext cx="1055400" cy="461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P(X|੬)</a:t>
              </a:r>
              <a:endParaRPr sz="1800"/>
            </a:p>
          </p:txBody>
        </p:sp>
      </p:grpSp>
      <p:sp>
        <p:nvSpPr>
          <p:cNvPr id="137" name="Google Shape;137;p17"/>
          <p:cNvSpPr txBox="1"/>
          <p:nvPr/>
        </p:nvSpPr>
        <p:spPr>
          <a:xfrm>
            <a:off x="12804575" y="6802425"/>
            <a:ext cx="4480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Times New Roman"/>
                <a:ea typeface="Times New Roman"/>
                <a:cs typeface="Times New Roman"/>
                <a:sym typeface="Times New Roman"/>
              </a:rPr>
              <a:t>Figure 2: VAE model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>
            <a:spLocks noGrp="1"/>
          </p:cNvSpPr>
          <p:nvPr>
            <p:ph type="body" idx="1"/>
          </p:nvPr>
        </p:nvSpPr>
        <p:spPr>
          <a:xfrm>
            <a:off x="419575" y="1561650"/>
            <a:ext cx="8850600" cy="87255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Branch 1: </a:t>
            </a:r>
            <a:r>
              <a:rPr lang="en" sz="1400" dirty="0">
                <a:solidFill>
                  <a:srgbClr val="000000"/>
                </a:solidFill>
              </a:rPr>
              <a:t>.</a:t>
            </a:r>
            <a:r>
              <a:rPr lang="en" dirty="0"/>
              <a:t>Real Data Set</a:t>
            </a:r>
            <a:endParaRPr dirty="0"/>
          </a:p>
          <a:p>
            <a:pPr marL="0" lvl="0" indent="0" algn="l" rtl="0">
              <a:spcBef>
                <a:spcPts val="3200"/>
              </a:spcBef>
              <a:spcAft>
                <a:spcPts val="0"/>
              </a:spcAft>
              <a:buNone/>
            </a:pPr>
            <a:endParaRPr sz="4000" dirty="0"/>
          </a:p>
          <a:p>
            <a:pPr marL="0" lvl="0" indent="0" algn="l" rtl="0">
              <a:spcBef>
                <a:spcPts val="3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200"/>
              </a:spcBef>
              <a:spcAft>
                <a:spcPts val="0"/>
              </a:spcAft>
              <a:buNone/>
            </a:pPr>
            <a:r>
              <a:rPr lang="en" dirty="0"/>
              <a:t>Branch 2: Simulation Data Set </a:t>
            </a:r>
            <a:endParaRPr dirty="0"/>
          </a:p>
          <a:p>
            <a:pPr marL="0" lvl="0" indent="0" algn="l" rtl="0">
              <a:spcBef>
                <a:spcPts val="3200"/>
              </a:spcBef>
              <a:spcAft>
                <a:spcPts val="0"/>
              </a:spcAft>
              <a:buNone/>
            </a:pPr>
            <a:r>
              <a:rPr lang="en" sz="2600" dirty="0">
                <a:solidFill>
                  <a:srgbClr val="000000"/>
                </a:solidFill>
              </a:rPr>
              <a:t>Generated true DAG with interacted mediators from a random procedure.</a:t>
            </a:r>
            <a:endParaRPr sz="26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3200"/>
              </a:spcBef>
              <a:spcAft>
                <a:spcPts val="0"/>
              </a:spcAft>
              <a:buNone/>
            </a:pPr>
            <a:r>
              <a:rPr lang="en" sz="2600" dirty="0">
                <a:solidFill>
                  <a:srgbClr val="000000"/>
                </a:solidFill>
              </a:rPr>
              <a:t>Number of mediators p = 10.</a:t>
            </a:r>
            <a:endParaRPr sz="26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3200"/>
              </a:spcBef>
              <a:spcAft>
                <a:spcPts val="0"/>
              </a:spcAft>
              <a:buNone/>
            </a:pPr>
            <a:r>
              <a:rPr lang="en" sz="2600" dirty="0">
                <a:solidFill>
                  <a:srgbClr val="000000"/>
                </a:solidFill>
              </a:rPr>
              <a:t>Evaluation metrics: TPR, FPR, F1-score, </a:t>
            </a:r>
            <a:r>
              <a:rPr lang="en" sz="2600" dirty="0">
                <a:solidFill>
                  <a:schemeClr val="dk1"/>
                </a:solidFill>
              </a:rPr>
              <a:t>S</a:t>
            </a:r>
            <a:r>
              <a:rPr lang="en" sz="2600" dirty="0">
                <a:solidFill>
                  <a:srgbClr val="000000"/>
                </a:solidFill>
              </a:rPr>
              <a:t>tructural </a:t>
            </a:r>
            <a:r>
              <a:rPr lang="en" sz="2600" dirty="0">
                <a:solidFill>
                  <a:schemeClr val="dk1"/>
                </a:solidFill>
              </a:rPr>
              <a:t>H</a:t>
            </a:r>
            <a:r>
              <a:rPr lang="en" sz="2600" dirty="0">
                <a:solidFill>
                  <a:srgbClr val="000000"/>
                </a:solidFill>
              </a:rPr>
              <a:t>amming </a:t>
            </a:r>
            <a:r>
              <a:rPr lang="en" sz="2600" dirty="0">
                <a:solidFill>
                  <a:schemeClr val="dk1"/>
                </a:solidFill>
              </a:rPr>
              <a:t>D</a:t>
            </a:r>
            <a:r>
              <a:rPr lang="en" sz="2600" dirty="0">
                <a:solidFill>
                  <a:srgbClr val="000000"/>
                </a:solidFill>
              </a:rPr>
              <a:t>istance</a:t>
            </a:r>
            <a:endParaRPr sz="26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3200"/>
              </a:spcBef>
              <a:spcAft>
                <a:spcPts val="0"/>
              </a:spcAft>
              <a:buNone/>
            </a:pPr>
            <a:endParaRPr sz="26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3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200"/>
              </a:spcBef>
              <a:spcAft>
                <a:spcPts val="3200"/>
              </a:spcAft>
              <a:buNone/>
            </a:pPr>
            <a:endParaRPr dirty="0"/>
          </a:p>
        </p:txBody>
      </p:sp>
      <p:pic>
        <p:nvPicPr>
          <p:cNvPr id="143" name="Google Shape;14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20650" y="4662344"/>
            <a:ext cx="7302750" cy="48684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p18"/>
          <p:cNvGrpSpPr/>
          <p:nvPr/>
        </p:nvGrpSpPr>
        <p:grpSpPr>
          <a:xfrm>
            <a:off x="193900" y="2355563"/>
            <a:ext cx="8101951" cy="2585023"/>
            <a:chOff x="177225" y="2476500"/>
            <a:chExt cx="8101951" cy="2585023"/>
          </a:xfrm>
        </p:grpSpPr>
        <p:pic>
          <p:nvPicPr>
            <p:cNvPr id="145" name="Google Shape;145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7225" y="2476500"/>
              <a:ext cx="8101951" cy="2381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8"/>
            <p:cNvSpPr txBox="1"/>
            <p:nvPr/>
          </p:nvSpPr>
          <p:spPr>
            <a:xfrm>
              <a:off x="1128275" y="4446000"/>
              <a:ext cx="6333088" cy="6155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b="1" dirty="0"/>
                <a:t>     A 		          M		         Y</a:t>
              </a:r>
              <a:endParaRPr sz="2800" b="1" dirty="0"/>
            </a:p>
          </p:txBody>
        </p:sp>
      </p:grpSp>
      <p:sp>
        <p:nvSpPr>
          <p:cNvPr id="147" name="Google Shape;147;p18"/>
          <p:cNvSpPr txBox="1"/>
          <p:nvPr/>
        </p:nvSpPr>
        <p:spPr>
          <a:xfrm>
            <a:off x="8079100" y="2142700"/>
            <a:ext cx="9810900" cy="31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400"/>
              <a:buChar char="●"/>
            </a:pPr>
            <a:r>
              <a:rPr lang="en" sz="2400">
                <a:solidFill>
                  <a:srgbClr val="292929"/>
                </a:solidFill>
              </a:rPr>
              <a:t>Exposure A  (1 exposure):  Locking Wuhan down on Jan 23rd, 2020</a:t>
            </a:r>
            <a:endParaRPr sz="2400">
              <a:solidFill>
                <a:srgbClr val="292929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400"/>
              <a:buChar char="●"/>
            </a:pPr>
            <a:r>
              <a:rPr lang="en" sz="2400">
                <a:solidFill>
                  <a:srgbClr val="292929"/>
                </a:solidFill>
              </a:rPr>
              <a:t>Mediators M (30 mediators): Migration scale of major Chinese cities outside Hubei</a:t>
            </a:r>
            <a:endParaRPr sz="2400">
              <a:solidFill>
                <a:srgbClr val="292929"/>
              </a:solidFill>
            </a:endParaRPr>
          </a:p>
          <a:p>
            <a:pPr marL="4572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92929"/>
                </a:solidFill>
              </a:rPr>
              <a:t>Significantly reduced </a:t>
            </a:r>
            <a:endParaRPr sz="2400">
              <a:solidFill>
                <a:srgbClr val="292929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400"/>
              <a:buChar char="●"/>
            </a:pPr>
            <a:r>
              <a:rPr lang="en" sz="2400">
                <a:solidFill>
                  <a:srgbClr val="292929"/>
                </a:solidFill>
              </a:rPr>
              <a:t>Outcome Y (1 outcome): Stopping virus spreading</a:t>
            </a:r>
            <a:endParaRPr sz="2400">
              <a:solidFill>
                <a:srgbClr val="29292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292929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400"/>
              <a:buChar char="●"/>
            </a:pPr>
            <a:r>
              <a:rPr lang="en" sz="2400">
                <a:solidFill>
                  <a:srgbClr val="292929"/>
                </a:solidFill>
              </a:rPr>
              <a:t>Sample size: 38</a:t>
            </a:r>
            <a:endParaRPr sz="2400"/>
          </a:p>
        </p:txBody>
      </p:sp>
      <p:sp>
        <p:nvSpPr>
          <p:cNvPr id="148" name="Google Shape;148;p18"/>
          <p:cNvSpPr txBox="1"/>
          <p:nvPr/>
        </p:nvSpPr>
        <p:spPr>
          <a:xfrm>
            <a:off x="527925" y="603400"/>
            <a:ext cx="48852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3.Data</a:t>
            </a:r>
            <a:endParaRPr sz="4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1576751" y="5192531"/>
            <a:ext cx="6719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Times New Roman"/>
                <a:ea typeface="Times New Roman"/>
                <a:cs typeface="Times New Roman"/>
                <a:sym typeface="Times New Roman"/>
              </a:rPr>
              <a:t>Figure 3: Real data structure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8736450" y="7848463"/>
            <a:ext cx="5220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Times New Roman"/>
                <a:ea typeface="Times New Roman"/>
                <a:cs typeface="Times New Roman"/>
                <a:sym typeface="Times New Roman"/>
              </a:rPr>
              <a:t>Figure 4: Simulation data structure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8469825" y="9183575"/>
            <a:ext cx="99036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SHD</a:t>
            </a:r>
            <a:r>
              <a:rPr lang="en" sz="2400"/>
              <a:t>, the smallest number of edge additions, deletions, and reversals to convert the estimated graph into the true DAG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913" y="2548475"/>
            <a:ext cx="7633049" cy="479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527925" y="755800"/>
            <a:ext cx="176391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4.Results</a:t>
            </a:r>
            <a:endParaRPr sz="4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1867475" y="8299675"/>
            <a:ext cx="156369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Times New Roman"/>
                <a:ea typeface="Times New Roman"/>
                <a:cs typeface="Times New Roman"/>
                <a:sym typeface="Times New Roman"/>
              </a:rPr>
              <a:t>Figure 5:  Causal effect of “Wuhan lockdown” on virus spreading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Times New Roman"/>
                <a:ea typeface="Times New Roman"/>
                <a:cs typeface="Times New Roman"/>
                <a:sym typeface="Times New Roman"/>
              </a:rPr>
              <a:t>Left : Network representation                                             Right: Graph weighted matrix representation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3240425" y="848188"/>
            <a:ext cx="137991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Real data: Causal effect of “Wuhan lockdown” on virus spreading</a:t>
            </a:r>
            <a:endParaRPr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0" name="Google Shape;160;p19"/>
          <p:cNvGrpSpPr/>
          <p:nvPr/>
        </p:nvGrpSpPr>
        <p:grpSpPr>
          <a:xfrm>
            <a:off x="7652875" y="1918400"/>
            <a:ext cx="10337025" cy="6235915"/>
            <a:chOff x="7652875" y="1918400"/>
            <a:chExt cx="10337025" cy="6235915"/>
          </a:xfrm>
        </p:grpSpPr>
        <p:pic>
          <p:nvPicPr>
            <p:cNvPr id="161" name="Google Shape;161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757529" y="2753647"/>
              <a:ext cx="6331363" cy="54006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652875" y="2073975"/>
              <a:ext cx="2867675" cy="1277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1028578" y="2001750"/>
              <a:ext cx="3188397" cy="1101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1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4586150" y="1918400"/>
              <a:ext cx="3403750" cy="12549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20"/>
          <p:cNvGrpSpPr/>
          <p:nvPr/>
        </p:nvGrpSpPr>
        <p:grpSpPr>
          <a:xfrm>
            <a:off x="410919" y="1558286"/>
            <a:ext cx="3390415" cy="3180397"/>
            <a:chOff x="1049425" y="2272325"/>
            <a:chExt cx="4565600" cy="4565600"/>
          </a:xfrm>
        </p:grpSpPr>
        <p:pic>
          <p:nvPicPr>
            <p:cNvPr id="170" name="Google Shape;170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49425" y="2272325"/>
              <a:ext cx="4565600" cy="4565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p20"/>
            <p:cNvSpPr txBox="1"/>
            <p:nvPr/>
          </p:nvSpPr>
          <p:spPr>
            <a:xfrm>
              <a:off x="2954150" y="2380300"/>
              <a:ext cx="988800" cy="7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172" name="Google Shape;17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1188" y="1706975"/>
            <a:ext cx="3571609" cy="288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5220600" y="4589875"/>
            <a:ext cx="287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Sample Size=50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Baseline setting </a:t>
            </a:r>
            <a:endParaRPr sz="2400"/>
          </a:p>
        </p:txBody>
      </p:sp>
      <p:pic>
        <p:nvPicPr>
          <p:cNvPr id="174" name="Google Shape;17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99588" y="1706975"/>
            <a:ext cx="3216937" cy="288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9371650" y="4822500"/>
            <a:ext cx="2872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Sample Size=200</a:t>
            </a:r>
            <a:endParaRPr sz="2400"/>
          </a:p>
        </p:txBody>
      </p:sp>
      <p:sp>
        <p:nvSpPr>
          <p:cNvPr id="176" name="Google Shape;176;p20"/>
          <p:cNvSpPr txBox="1"/>
          <p:nvPr/>
        </p:nvSpPr>
        <p:spPr>
          <a:xfrm>
            <a:off x="0" y="5276250"/>
            <a:ext cx="257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1599125" y="4658700"/>
            <a:ext cx="1189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True</a:t>
            </a:r>
            <a:endParaRPr sz="2400"/>
          </a:p>
        </p:txBody>
      </p:sp>
      <p:pic>
        <p:nvPicPr>
          <p:cNvPr id="178" name="Google Shape;17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6244300"/>
            <a:ext cx="4552125" cy="3180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52125" y="6168100"/>
            <a:ext cx="4552120" cy="30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064275" y="6163450"/>
            <a:ext cx="4776051" cy="30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720450" y="6202350"/>
            <a:ext cx="4552125" cy="30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835417" y="1465300"/>
            <a:ext cx="5376383" cy="388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527925" y="755800"/>
            <a:ext cx="176391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Simulation: Increase Number of Sample Size</a:t>
            </a:r>
            <a:endParaRPr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1599125" y="9093600"/>
            <a:ext cx="1189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TPR</a:t>
            </a:r>
            <a:endParaRPr sz="2400"/>
          </a:p>
        </p:txBody>
      </p:sp>
      <p:sp>
        <p:nvSpPr>
          <p:cNvPr id="185" name="Google Shape;185;p20"/>
          <p:cNvSpPr txBox="1"/>
          <p:nvPr/>
        </p:nvSpPr>
        <p:spPr>
          <a:xfrm>
            <a:off x="6419850" y="9208050"/>
            <a:ext cx="804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FPR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10857400" y="9212700"/>
            <a:ext cx="1833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F1-score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13840325" y="9212700"/>
            <a:ext cx="4649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92929"/>
                </a:solidFill>
              </a:rPr>
              <a:t>Structural Hamming distance</a:t>
            </a:r>
            <a:endParaRPr sz="2400">
              <a:solidFill>
                <a:srgbClr val="292929"/>
              </a:solidFill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899475" y="9727925"/>
            <a:ext cx="16896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SHD</a:t>
            </a:r>
            <a:r>
              <a:rPr lang="en" sz="2400"/>
              <a:t>, the smallest number of edge additions, deletions, and reversals to convert the estimated graph into the true DAG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125" y="881550"/>
            <a:ext cx="4587850" cy="458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53000" y="819913"/>
            <a:ext cx="4768624" cy="476862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5403025" y="5512350"/>
            <a:ext cx="4055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3200"/>
              </a:spcAft>
              <a:buNone/>
            </a:pPr>
            <a:endParaRPr/>
          </a:p>
        </p:txBody>
      </p:sp>
      <p:pic>
        <p:nvPicPr>
          <p:cNvPr id="196" name="Google Shape;196;p21"/>
          <p:cNvPicPr preferRelativeResize="0"/>
          <p:nvPr/>
        </p:nvPicPr>
        <p:blipFill rotWithShape="1">
          <a:blip r:embed="rId5">
            <a:alphaModFix/>
          </a:blip>
          <a:srcRect l="1295" r="1295"/>
          <a:stretch/>
        </p:blipFill>
        <p:spPr>
          <a:xfrm>
            <a:off x="9610525" y="809450"/>
            <a:ext cx="4587854" cy="4709807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1171650" y="5118713"/>
            <a:ext cx="287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Rep=25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Baseline setting </a:t>
            </a:r>
            <a:endParaRPr sz="2400"/>
          </a:p>
        </p:txBody>
      </p:sp>
      <p:sp>
        <p:nvSpPr>
          <p:cNvPr id="198" name="Google Shape;198;p21"/>
          <p:cNvSpPr txBox="1"/>
          <p:nvPr/>
        </p:nvSpPr>
        <p:spPr>
          <a:xfrm>
            <a:off x="6485863" y="5203500"/>
            <a:ext cx="1515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Rep=75</a:t>
            </a:r>
            <a:endParaRPr sz="2400"/>
          </a:p>
        </p:txBody>
      </p:sp>
      <p:sp>
        <p:nvSpPr>
          <p:cNvPr id="199" name="Google Shape;199;p21"/>
          <p:cNvSpPr txBox="1"/>
          <p:nvPr/>
        </p:nvSpPr>
        <p:spPr>
          <a:xfrm>
            <a:off x="11301675" y="5203500"/>
            <a:ext cx="1673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Rep=150</a:t>
            </a:r>
            <a:endParaRPr sz="2400"/>
          </a:p>
        </p:txBody>
      </p:sp>
      <p:pic>
        <p:nvPicPr>
          <p:cNvPr id="200" name="Google Shape;200;p21"/>
          <p:cNvPicPr preferRelativeResize="0"/>
          <p:nvPr/>
        </p:nvPicPr>
        <p:blipFill rotWithShape="1">
          <a:blip r:embed="rId6">
            <a:alphaModFix/>
          </a:blip>
          <a:srcRect l="2290" r="2280"/>
          <a:stretch/>
        </p:blipFill>
        <p:spPr>
          <a:xfrm>
            <a:off x="0" y="5932338"/>
            <a:ext cx="4552125" cy="3180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/>
          <p:cNvPicPr preferRelativeResize="0"/>
          <p:nvPr/>
        </p:nvPicPr>
        <p:blipFill rotWithShape="1">
          <a:blip r:embed="rId7">
            <a:alphaModFix/>
          </a:blip>
          <a:srcRect l="159" r="159"/>
          <a:stretch/>
        </p:blipFill>
        <p:spPr>
          <a:xfrm>
            <a:off x="4552125" y="5967550"/>
            <a:ext cx="4649700" cy="3109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/>
          <p:cNvPicPr preferRelativeResize="0"/>
          <p:nvPr/>
        </p:nvPicPr>
        <p:blipFill rotWithShape="1">
          <a:blip r:embed="rId8">
            <a:alphaModFix/>
          </a:blip>
          <a:srcRect t="2189" b="2189"/>
          <a:stretch/>
        </p:blipFill>
        <p:spPr>
          <a:xfrm>
            <a:off x="8944400" y="6039050"/>
            <a:ext cx="4776051" cy="30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/>
          <p:cNvPicPr preferRelativeResize="0"/>
          <p:nvPr/>
        </p:nvPicPr>
        <p:blipFill rotWithShape="1">
          <a:blip r:embed="rId9">
            <a:alphaModFix/>
          </a:blip>
          <a:srcRect l="159" r="159"/>
          <a:stretch/>
        </p:blipFill>
        <p:spPr>
          <a:xfrm>
            <a:off x="13603725" y="5996075"/>
            <a:ext cx="4552125" cy="304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1599125" y="9093600"/>
            <a:ext cx="1189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TPR</a:t>
            </a:r>
            <a:endParaRPr sz="2400"/>
          </a:p>
        </p:txBody>
      </p:sp>
      <p:sp>
        <p:nvSpPr>
          <p:cNvPr id="205" name="Google Shape;205;p21"/>
          <p:cNvSpPr txBox="1"/>
          <p:nvPr/>
        </p:nvSpPr>
        <p:spPr>
          <a:xfrm>
            <a:off x="6419850" y="9208050"/>
            <a:ext cx="804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FPR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10857400" y="9212700"/>
            <a:ext cx="1833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F1-score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13840325" y="9212700"/>
            <a:ext cx="4649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92929"/>
                </a:solidFill>
              </a:rPr>
              <a:t>Structural Hamming distance</a:t>
            </a:r>
            <a:endParaRPr sz="2400">
              <a:solidFill>
                <a:srgbClr val="292929"/>
              </a:solidFill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899475" y="9727925"/>
            <a:ext cx="16896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SHD</a:t>
            </a:r>
            <a:r>
              <a:rPr lang="en" sz="2400"/>
              <a:t>, the smallest number of edge additions, deletions, and reversals to convert the estimated graph into the true DAG</a:t>
            </a:r>
            <a:endParaRPr sz="2400"/>
          </a:p>
        </p:txBody>
      </p:sp>
      <p:sp>
        <p:nvSpPr>
          <p:cNvPr id="209" name="Google Shape;209;p21"/>
          <p:cNvSpPr txBox="1"/>
          <p:nvPr/>
        </p:nvSpPr>
        <p:spPr>
          <a:xfrm>
            <a:off x="527925" y="755800"/>
            <a:ext cx="176391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Simulation: random sampling replications </a:t>
            </a:r>
            <a:endParaRPr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4274574" y="1585300"/>
            <a:ext cx="4552125" cy="303476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15807425" y="5107213"/>
            <a:ext cx="1673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MSE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2612" y="949176"/>
            <a:ext cx="4565600" cy="456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7893" y="1105725"/>
            <a:ext cx="4252500" cy="42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5317" y="828550"/>
            <a:ext cx="4469825" cy="44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6"/>
          <p:cNvSpPr txBox="1"/>
          <p:nvPr/>
        </p:nvSpPr>
        <p:spPr>
          <a:xfrm>
            <a:off x="8891500" y="5358225"/>
            <a:ext cx="5581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3200"/>
              </a:spcAft>
              <a:buNone/>
            </a:pPr>
            <a:endParaRPr/>
          </a:p>
        </p:txBody>
      </p:sp>
      <p:sp>
        <p:nvSpPr>
          <p:cNvPr id="268" name="Google Shape;268;p26"/>
          <p:cNvSpPr txBox="1"/>
          <p:nvPr/>
        </p:nvSpPr>
        <p:spPr>
          <a:xfrm>
            <a:off x="14100250" y="5358225"/>
            <a:ext cx="5581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3200"/>
              </a:spcAft>
              <a:buNone/>
            </a:pP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4057788" y="5358225"/>
            <a:ext cx="5581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3200"/>
              </a:spcAft>
              <a:buNone/>
            </a:pP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281475" y="5358225"/>
            <a:ext cx="4201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Learning rate decay 1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Baseline setting </a:t>
            </a:r>
            <a:endParaRPr sz="2400"/>
          </a:p>
        </p:txBody>
      </p:sp>
      <p:sp>
        <p:nvSpPr>
          <p:cNvPr id="271" name="Google Shape;271;p26"/>
          <p:cNvSpPr txBox="1"/>
          <p:nvPr/>
        </p:nvSpPr>
        <p:spPr>
          <a:xfrm>
            <a:off x="5004905" y="5358225"/>
            <a:ext cx="3687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Learning rate decay 0.75</a:t>
            </a:r>
            <a:endParaRPr sz="2400"/>
          </a:p>
        </p:txBody>
      </p:sp>
      <p:sp>
        <p:nvSpPr>
          <p:cNvPr id="272" name="Google Shape;272;p26"/>
          <p:cNvSpPr txBox="1"/>
          <p:nvPr/>
        </p:nvSpPr>
        <p:spPr>
          <a:xfrm>
            <a:off x="9915500" y="5358225"/>
            <a:ext cx="4469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Learning rate decay 1.25</a:t>
            </a:r>
            <a:endParaRPr sz="2400"/>
          </a:p>
        </p:txBody>
      </p:sp>
      <p:pic>
        <p:nvPicPr>
          <p:cNvPr id="273" name="Google Shape;27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775" y="6358225"/>
            <a:ext cx="41148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10400" y="6358225"/>
            <a:ext cx="41148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55350" y="6358225"/>
            <a:ext cx="41148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136525" y="6241875"/>
            <a:ext cx="41148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6"/>
          <p:cNvSpPr txBox="1"/>
          <p:nvPr/>
        </p:nvSpPr>
        <p:spPr>
          <a:xfrm>
            <a:off x="1599125" y="9093600"/>
            <a:ext cx="1189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92929"/>
                </a:solidFill>
              </a:rPr>
              <a:t>TPR</a:t>
            </a:r>
            <a:endParaRPr sz="2400">
              <a:solidFill>
                <a:srgbClr val="292929"/>
              </a:solidFill>
            </a:endParaRPr>
          </a:p>
        </p:txBody>
      </p:sp>
      <p:sp>
        <p:nvSpPr>
          <p:cNvPr id="278" name="Google Shape;278;p26"/>
          <p:cNvSpPr txBox="1"/>
          <p:nvPr/>
        </p:nvSpPr>
        <p:spPr>
          <a:xfrm>
            <a:off x="6419850" y="9208050"/>
            <a:ext cx="804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92929"/>
                </a:solidFill>
              </a:rPr>
              <a:t>FPR</a:t>
            </a:r>
            <a:endParaRPr sz="2400">
              <a:solidFill>
                <a:srgbClr val="292929"/>
              </a:solidFill>
            </a:endParaRPr>
          </a:p>
        </p:txBody>
      </p:sp>
      <p:sp>
        <p:nvSpPr>
          <p:cNvPr id="279" name="Google Shape;279;p26"/>
          <p:cNvSpPr txBox="1"/>
          <p:nvPr/>
        </p:nvSpPr>
        <p:spPr>
          <a:xfrm>
            <a:off x="10857400" y="9212700"/>
            <a:ext cx="1833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92929"/>
                </a:solidFill>
              </a:rPr>
              <a:t>F1-score</a:t>
            </a:r>
            <a:endParaRPr sz="2400">
              <a:solidFill>
                <a:srgbClr val="292929"/>
              </a:solidFill>
            </a:endParaRPr>
          </a:p>
        </p:txBody>
      </p:sp>
      <p:sp>
        <p:nvSpPr>
          <p:cNvPr id="280" name="Google Shape;280;p26"/>
          <p:cNvSpPr txBox="1"/>
          <p:nvPr/>
        </p:nvSpPr>
        <p:spPr>
          <a:xfrm>
            <a:off x="13840325" y="9212700"/>
            <a:ext cx="4649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92929"/>
                </a:solidFill>
              </a:rPr>
              <a:t>Structural Hamming distance</a:t>
            </a:r>
            <a:endParaRPr sz="2400">
              <a:solidFill>
                <a:srgbClr val="292929"/>
              </a:solidFill>
            </a:endParaRPr>
          </a:p>
        </p:txBody>
      </p:sp>
      <p:sp>
        <p:nvSpPr>
          <p:cNvPr id="281" name="Google Shape;281;p26"/>
          <p:cNvSpPr txBox="1"/>
          <p:nvPr/>
        </p:nvSpPr>
        <p:spPr>
          <a:xfrm>
            <a:off x="899475" y="9727925"/>
            <a:ext cx="16896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92929"/>
                </a:solidFill>
              </a:rPr>
              <a:t>SHD, the smallest number of edge additions, deletions, and reversals to convert the estimated graph into the true DAG</a:t>
            </a:r>
            <a:endParaRPr sz="2400">
              <a:solidFill>
                <a:srgbClr val="292929"/>
              </a:solidFill>
            </a:endParaRPr>
          </a:p>
        </p:txBody>
      </p:sp>
      <p:sp>
        <p:nvSpPr>
          <p:cNvPr id="282" name="Google Shape;282;p26"/>
          <p:cNvSpPr txBox="1"/>
          <p:nvPr/>
        </p:nvSpPr>
        <p:spPr>
          <a:xfrm>
            <a:off x="484750" y="678425"/>
            <a:ext cx="96363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simulation: Learning rate decay</a:t>
            </a:r>
            <a:endParaRPr sz="2400"/>
          </a:p>
        </p:txBody>
      </p:sp>
      <p:pic>
        <p:nvPicPr>
          <p:cNvPr id="283" name="Google Shape;283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030067" y="1860375"/>
            <a:ext cx="41148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6"/>
          <p:cNvSpPr txBox="1"/>
          <p:nvPr/>
        </p:nvSpPr>
        <p:spPr>
          <a:xfrm>
            <a:off x="15807425" y="5107213"/>
            <a:ext cx="1673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MSE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oogle Shape;241;p25"/>
          <p:cNvGrpSpPr/>
          <p:nvPr/>
        </p:nvGrpSpPr>
        <p:grpSpPr>
          <a:xfrm>
            <a:off x="711203" y="1080875"/>
            <a:ext cx="3838756" cy="3526926"/>
            <a:chOff x="1049425" y="2272325"/>
            <a:chExt cx="4565600" cy="4565600"/>
          </a:xfrm>
        </p:grpSpPr>
        <p:pic>
          <p:nvPicPr>
            <p:cNvPr id="242" name="Google Shape;242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49425" y="2272325"/>
              <a:ext cx="4565600" cy="4565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3" name="Google Shape;243;p25"/>
            <p:cNvSpPr txBox="1"/>
            <p:nvPr/>
          </p:nvSpPr>
          <p:spPr>
            <a:xfrm>
              <a:off x="2954150" y="2380300"/>
              <a:ext cx="988800" cy="71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244" name="Google Shape;24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4975" y="1322050"/>
            <a:ext cx="3487551" cy="304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5"/>
          <p:cNvSpPr txBox="1"/>
          <p:nvPr/>
        </p:nvSpPr>
        <p:spPr>
          <a:xfrm>
            <a:off x="7089350" y="5180675"/>
            <a:ext cx="3487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25"/>
          <p:cNvSpPr txBox="1"/>
          <p:nvPr/>
        </p:nvSpPr>
        <p:spPr>
          <a:xfrm>
            <a:off x="5656225" y="4366650"/>
            <a:ext cx="3321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Baseline Hidden Layer</a:t>
            </a:r>
            <a:endParaRPr sz="2000"/>
          </a:p>
        </p:txBody>
      </p:sp>
      <p:pic>
        <p:nvPicPr>
          <p:cNvPr id="247" name="Google Shape;24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74525" y="1400450"/>
            <a:ext cx="3321600" cy="304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 txBox="1"/>
          <p:nvPr/>
        </p:nvSpPr>
        <p:spPr>
          <a:xfrm>
            <a:off x="9931700" y="4387475"/>
            <a:ext cx="2949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Improved Hidden Layer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173500" y="4756125"/>
            <a:ext cx="634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Improvement of Hidden Layer Structure</a:t>
            </a:r>
            <a:endParaRPr sz="2200"/>
          </a:p>
        </p:txBody>
      </p:sp>
      <p:sp>
        <p:nvSpPr>
          <p:cNvPr id="250" name="Google Shape;250;p25"/>
          <p:cNvSpPr txBox="1"/>
          <p:nvPr/>
        </p:nvSpPr>
        <p:spPr>
          <a:xfrm>
            <a:off x="1862125" y="4263525"/>
            <a:ext cx="1536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True</a:t>
            </a:r>
            <a:endParaRPr sz="2400"/>
          </a:p>
        </p:txBody>
      </p:sp>
      <p:sp>
        <p:nvSpPr>
          <p:cNvPr id="251" name="Google Shape;251;p25"/>
          <p:cNvSpPr txBox="1"/>
          <p:nvPr/>
        </p:nvSpPr>
        <p:spPr>
          <a:xfrm>
            <a:off x="484750" y="678425"/>
            <a:ext cx="14389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simulation: increase number of  hidden layers</a:t>
            </a:r>
            <a:endParaRPr sz="2400"/>
          </a:p>
        </p:txBody>
      </p:sp>
      <p:pic>
        <p:nvPicPr>
          <p:cNvPr id="252" name="Google Shape;252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5875" y="5831400"/>
            <a:ext cx="4638199" cy="329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87400" y="5691325"/>
            <a:ext cx="5098076" cy="3526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385475" y="5580875"/>
            <a:ext cx="4200725" cy="352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49950" y="5667225"/>
            <a:ext cx="4200725" cy="3526926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5"/>
          <p:cNvSpPr txBox="1"/>
          <p:nvPr/>
        </p:nvSpPr>
        <p:spPr>
          <a:xfrm>
            <a:off x="1924075" y="9194150"/>
            <a:ext cx="1413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FPR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6296125" y="9194150"/>
            <a:ext cx="1239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TPR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10940425" y="9194150"/>
            <a:ext cx="118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F1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15467675" y="9072400"/>
            <a:ext cx="8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18520"/>
          <a:stretch/>
        </p:blipFill>
        <p:spPr>
          <a:xfrm>
            <a:off x="2436000" y="1212650"/>
            <a:ext cx="6827926" cy="395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 rotWithShape="1">
          <a:blip r:embed="rId4">
            <a:alphaModFix/>
          </a:blip>
          <a:srcRect l="13646" t="11794" r="10411" b="12257"/>
          <a:stretch/>
        </p:blipFill>
        <p:spPr>
          <a:xfrm>
            <a:off x="13990650" y="2662998"/>
            <a:ext cx="2933550" cy="19556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962850" y="1123912"/>
            <a:ext cx="23931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1. Object</a:t>
            </a:r>
            <a:endParaRPr sz="2600"/>
          </a:p>
        </p:txBody>
      </p:sp>
      <p:sp>
        <p:nvSpPr>
          <p:cNvPr id="65" name="Google Shape;65;p14"/>
          <p:cNvSpPr txBox="1"/>
          <p:nvPr/>
        </p:nvSpPr>
        <p:spPr>
          <a:xfrm>
            <a:off x="917637" y="4906654"/>
            <a:ext cx="2738599" cy="86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2. Method</a:t>
            </a:r>
            <a:endParaRPr sz="2600"/>
          </a:p>
        </p:txBody>
      </p:sp>
      <p:sp>
        <p:nvSpPr>
          <p:cNvPr id="66" name="Google Shape;66;p14"/>
          <p:cNvSpPr txBox="1"/>
          <p:nvPr/>
        </p:nvSpPr>
        <p:spPr>
          <a:xfrm>
            <a:off x="9144000" y="1124000"/>
            <a:ext cx="1987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3. Data</a:t>
            </a:r>
            <a:endParaRPr sz="4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8934450" y="4788550"/>
            <a:ext cx="24063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4. Results</a:t>
            </a:r>
            <a:endParaRPr/>
          </a:p>
        </p:txBody>
      </p:sp>
      <p:pic>
        <p:nvPicPr>
          <p:cNvPr id="68" name="Google Shape;68;p14"/>
          <p:cNvPicPr preferRelativeResize="0"/>
          <p:nvPr/>
        </p:nvPicPr>
        <p:blipFill rotWithShape="1">
          <a:blip r:embed="rId5">
            <a:alphaModFix/>
          </a:blip>
          <a:srcRect l="7188" t="20672" r="8636" b="12575"/>
          <a:stretch/>
        </p:blipFill>
        <p:spPr>
          <a:xfrm>
            <a:off x="8543025" y="2809200"/>
            <a:ext cx="4744924" cy="11060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9468525" y="1985900"/>
            <a:ext cx="27675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B5394"/>
                </a:solidFill>
              </a:rPr>
              <a:t>3.1 Real Data</a:t>
            </a:r>
            <a:endParaRPr sz="3200">
              <a:solidFill>
                <a:srgbClr val="0B5394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13531375" y="1985900"/>
            <a:ext cx="2568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B5394"/>
                </a:solidFill>
              </a:rPr>
              <a:t>3.2 Sim Data</a:t>
            </a:r>
            <a:endParaRPr sz="3200">
              <a:solidFill>
                <a:srgbClr val="0B5394"/>
              </a:solidFill>
            </a:endParaRPr>
          </a:p>
        </p:txBody>
      </p:sp>
      <p:grpSp>
        <p:nvGrpSpPr>
          <p:cNvPr id="71" name="Google Shape;71;p14"/>
          <p:cNvGrpSpPr/>
          <p:nvPr/>
        </p:nvGrpSpPr>
        <p:grpSpPr>
          <a:xfrm>
            <a:off x="8858980" y="5498039"/>
            <a:ext cx="8819550" cy="4647004"/>
            <a:chOff x="7652875" y="1918400"/>
            <a:chExt cx="10337025" cy="6235915"/>
          </a:xfrm>
        </p:grpSpPr>
        <p:pic>
          <p:nvPicPr>
            <p:cNvPr id="72" name="Google Shape;72;p1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57529" y="2753647"/>
              <a:ext cx="6331363" cy="54006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652875" y="2073975"/>
              <a:ext cx="2867675" cy="1277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" name="Google Shape;74;p1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1028578" y="2001750"/>
              <a:ext cx="3188397" cy="1101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14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4586150" y="1918400"/>
              <a:ext cx="3403750" cy="1254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6" name="Google Shape;76;p14"/>
          <p:cNvSpPr txBox="1"/>
          <p:nvPr/>
        </p:nvSpPr>
        <p:spPr>
          <a:xfrm>
            <a:off x="125300" y="366450"/>
            <a:ext cx="4885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sz="4400" b="1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14"/>
          <p:cNvGrpSpPr/>
          <p:nvPr/>
        </p:nvGrpSpPr>
        <p:grpSpPr>
          <a:xfrm>
            <a:off x="357872" y="5559139"/>
            <a:ext cx="9093578" cy="4741889"/>
            <a:chOff x="586472" y="5559139"/>
            <a:chExt cx="9093578" cy="4741889"/>
          </a:xfrm>
        </p:grpSpPr>
        <p:pic>
          <p:nvPicPr>
            <p:cNvPr id="78" name="Google Shape;78;p14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740772" y="5559139"/>
              <a:ext cx="2452838" cy="97292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9" name="Google Shape;79;p14"/>
            <p:cNvGrpSpPr/>
            <p:nvPr/>
          </p:nvGrpSpPr>
          <p:grpSpPr>
            <a:xfrm>
              <a:off x="5783891" y="6972312"/>
              <a:ext cx="3896159" cy="3328716"/>
              <a:chOff x="12127650" y="3198475"/>
              <a:chExt cx="5028600" cy="3890050"/>
            </a:xfrm>
          </p:grpSpPr>
          <p:pic>
            <p:nvPicPr>
              <p:cNvPr id="80" name="Google Shape;80;p14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12127650" y="3198475"/>
                <a:ext cx="5028600" cy="38900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" name="Google Shape;81;p14"/>
              <p:cNvSpPr txBox="1"/>
              <p:nvPr/>
            </p:nvSpPr>
            <p:spPr>
              <a:xfrm>
                <a:off x="13138150" y="5718963"/>
                <a:ext cx="1055400" cy="539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P(੬|X)</a:t>
                </a:r>
                <a:endParaRPr sz="1800"/>
              </a:p>
            </p:txBody>
          </p:sp>
          <p:sp>
            <p:nvSpPr>
              <p:cNvPr id="82" name="Google Shape;82;p14"/>
              <p:cNvSpPr txBox="1"/>
              <p:nvPr/>
            </p:nvSpPr>
            <p:spPr>
              <a:xfrm>
                <a:off x="15207900" y="5722588"/>
                <a:ext cx="1055400" cy="539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P(X|੬)</a:t>
                </a:r>
                <a:endParaRPr sz="1800"/>
              </a:p>
            </p:txBody>
          </p:sp>
        </p:grpSp>
        <p:pic>
          <p:nvPicPr>
            <p:cNvPr id="83" name="Google Shape;83;p14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689025" y="6518850"/>
              <a:ext cx="4093374" cy="861900"/>
            </a:xfrm>
            <a:prstGeom prst="rect">
              <a:avLst/>
            </a:prstGeom>
            <a:noFill/>
            <a:ln w="952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84" name="Google Shape;84;p14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586472" y="7735118"/>
              <a:ext cx="4885199" cy="20946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14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3864972" y="5581314"/>
              <a:ext cx="3127689" cy="7089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6" name="Google Shape;86;p14"/>
          <p:cNvSpPr txBox="1"/>
          <p:nvPr/>
        </p:nvSpPr>
        <p:spPr>
          <a:xfrm>
            <a:off x="908925" y="3311050"/>
            <a:ext cx="2784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" sz="2800">
                <a:latin typeface="Times New Roman"/>
                <a:ea typeface="Times New Roman"/>
                <a:cs typeface="Times New Roman"/>
                <a:sym typeface="Times New Roman"/>
              </a:rPr>
              <a:t>:      Exposure</a:t>
            </a:r>
            <a:r>
              <a:rPr lang="e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2800">
                <a:latin typeface="Times New Roman"/>
                <a:ea typeface="Times New Roman"/>
                <a:cs typeface="Times New Roman"/>
                <a:sym typeface="Times New Roman"/>
              </a:rPr>
              <a:t>:	    Mediators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2800">
                <a:latin typeface="Times New Roman"/>
                <a:ea typeface="Times New Roman"/>
                <a:cs typeface="Times New Roman"/>
                <a:sym typeface="Times New Roman"/>
              </a:rPr>
              <a:t>:      Outcome </a:t>
            </a:r>
            <a:endParaRPr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 txBox="1">
            <a:spLocks noGrp="1"/>
          </p:cNvSpPr>
          <p:nvPr>
            <p:ph type="title"/>
          </p:nvPr>
        </p:nvSpPr>
        <p:spPr>
          <a:xfrm>
            <a:off x="623400" y="5227125"/>
            <a:ext cx="17041200" cy="1252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"/>
          <p:cNvSpPr txBox="1">
            <a:spLocks noGrp="1"/>
          </p:cNvSpPr>
          <p:nvPr>
            <p:ph type="body" idx="1"/>
          </p:nvPr>
        </p:nvSpPr>
        <p:spPr>
          <a:xfrm>
            <a:off x="812900" y="1091750"/>
            <a:ext cx="17041200" cy="8464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Where h1(B) denotes the </a:t>
            </a:r>
            <a:r>
              <a:rPr lang="en" sz="4000">
                <a:solidFill>
                  <a:srgbClr val="000000"/>
                </a:solidFill>
              </a:rPr>
              <a:t>acyclicity constraint;</a:t>
            </a:r>
            <a:endParaRPr sz="4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3200"/>
              </a:spcBef>
              <a:spcAft>
                <a:spcPts val="0"/>
              </a:spcAft>
              <a:buNone/>
            </a:pPr>
            <a:endParaRPr sz="4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20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000000"/>
                </a:solidFill>
              </a:rPr>
              <a:t>And h2(B) denotes the background knowledge: Temporal order A as the first order, Y as the last one; </a:t>
            </a:r>
            <a:endParaRPr sz="4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3200"/>
              </a:spcBef>
              <a:spcAft>
                <a:spcPts val="0"/>
              </a:spcAft>
              <a:buNone/>
            </a:pPr>
            <a:endParaRPr sz="4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3200"/>
              </a:spcBef>
              <a:spcAft>
                <a:spcPts val="3200"/>
              </a:spcAft>
              <a:buNone/>
            </a:pPr>
            <a:r>
              <a:rPr lang="en" sz="4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4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6875" y="2141200"/>
            <a:ext cx="10680247" cy="112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9302" y="4823637"/>
            <a:ext cx="8950057" cy="240154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/>
        </p:nvSpPr>
        <p:spPr>
          <a:xfrm>
            <a:off x="1176875" y="7092625"/>
            <a:ext cx="12223200" cy="57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4200">
                <a:latin typeface="Calibri"/>
                <a:ea typeface="Calibri"/>
                <a:cs typeface="Calibri"/>
                <a:sym typeface="Calibri"/>
              </a:rPr>
              <a:t>Loss function based on augmented Lagrangian:</a:t>
            </a:r>
            <a:endParaRPr sz="4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4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4000"/>
              <a:t>λ1, λ2 Lagrange multiplier; c, d penalty terms</a:t>
            </a:r>
            <a:endParaRPr sz="4000"/>
          </a:p>
          <a:p>
            <a:pPr marL="0" lvl="0" indent="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4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100"/>
              <a:t> </a:t>
            </a:r>
            <a:endParaRPr sz="21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4000"/>
          </a:p>
          <a:p>
            <a:pPr marL="0" lvl="0" indent="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4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6875" y="7813500"/>
            <a:ext cx="13441499" cy="968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3"/>
          <p:cNvSpPr txBox="1">
            <a:spLocks noGrp="1"/>
          </p:cNvSpPr>
          <p:nvPr>
            <p:ph type="title"/>
          </p:nvPr>
        </p:nvSpPr>
        <p:spPr>
          <a:xfrm>
            <a:off x="494525" y="393575"/>
            <a:ext cx="17041200" cy="1252200"/>
          </a:xfrm>
          <a:prstGeom prst="rect">
            <a:avLst/>
          </a:prstGeom>
          <a:noFill/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VAE Constraints</a:t>
            </a:r>
            <a:endParaRPr sz="4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3826" y="1589251"/>
            <a:ext cx="5855325" cy="536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92813" y="1876075"/>
            <a:ext cx="7633049" cy="479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4800" y="7106350"/>
            <a:ext cx="9115376" cy="318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4"/>
          <p:cNvPicPr preferRelativeResize="0"/>
          <p:nvPr/>
        </p:nvPicPr>
        <p:blipFill rotWithShape="1">
          <a:blip r:embed="rId6">
            <a:alphaModFix/>
          </a:blip>
          <a:srcRect r="-3863"/>
          <a:stretch/>
        </p:blipFill>
        <p:spPr>
          <a:xfrm>
            <a:off x="9051650" y="7106350"/>
            <a:ext cx="9115374" cy="304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 txBox="1"/>
          <p:nvPr/>
        </p:nvSpPr>
        <p:spPr>
          <a:xfrm>
            <a:off x="527925" y="755800"/>
            <a:ext cx="176391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Causal effect decomposition of “Wuhan lockdown” on virus spreading</a:t>
            </a:r>
            <a:endParaRPr sz="4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4"/>
          <p:cNvSpPr txBox="1"/>
          <p:nvPr/>
        </p:nvSpPr>
        <p:spPr>
          <a:xfrm>
            <a:off x="1576725" y="6338375"/>
            <a:ext cx="4118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 M1, M2, … …       M30, 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7"/>
          <p:cNvSpPr txBox="1">
            <a:spLocks noGrp="1"/>
          </p:cNvSpPr>
          <p:nvPr>
            <p:ph type="title"/>
          </p:nvPr>
        </p:nvSpPr>
        <p:spPr>
          <a:xfrm>
            <a:off x="394800" y="858900"/>
            <a:ext cx="17041200" cy="1252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Simulated Dataset</a:t>
            </a:r>
            <a:endParaRPr/>
          </a:p>
        </p:txBody>
      </p:sp>
      <p:sp>
        <p:nvSpPr>
          <p:cNvPr id="290" name="Google Shape;290;p27"/>
          <p:cNvSpPr txBox="1">
            <a:spLocks noGrp="1"/>
          </p:cNvSpPr>
          <p:nvPr>
            <p:ph type="body" idx="1"/>
          </p:nvPr>
        </p:nvSpPr>
        <p:spPr>
          <a:xfrm>
            <a:off x="623400" y="2228750"/>
            <a:ext cx="170412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457200" lvl="0" indent="-450850" algn="l" rtl="0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Graphs are each 12 nodes</a:t>
            </a:r>
            <a:endParaRPr/>
          </a:p>
          <a:p>
            <a:pPr marL="457200" lvl="0" indent="-450850" algn="l" rtl="0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Varying connection density/sparsity</a:t>
            </a:r>
            <a:endParaRPr/>
          </a:p>
        </p:txBody>
      </p:sp>
      <p:pic>
        <p:nvPicPr>
          <p:cNvPr id="291" name="Google Shape;29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8250" y="1956800"/>
            <a:ext cx="7620000" cy="76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d Rectangle">
  <a:themeElements>
    <a:clrScheme name="Coral">
      <a:dk1>
        <a:srgbClr val="CC0000"/>
      </a:dk1>
      <a:lt1>
        <a:srgbClr val="FFFFFF"/>
      </a:lt1>
      <a:dk2>
        <a:srgbClr val="6D6D6D"/>
      </a:dk2>
      <a:lt2>
        <a:srgbClr val="C3C3C3"/>
      </a:lt2>
      <a:accent1>
        <a:srgbClr val="990000"/>
      </a:accent1>
      <a:accent2>
        <a:srgbClr val="008473"/>
      </a:accent2>
      <a:accent3>
        <a:srgbClr val="427E93"/>
      </a:accent3>
      <a:accent4>
        <a:srgbClr val="D14905"/>
      </a:accent4>
      <a:accent5>
        <a:srgbClr val="FAC800"/>
      </a:accent5>
      <a:accent6>
        <a:srgbClr val="6F7D1C"/>
      </a:accent6>
      <a:hlink>
        <a:srgbClr val="CC0000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721</Words>
  <Application>Microsoft Office PowerPoint</Application>
  <PresentationFormat>Custom</PresentationFormat>
  <Paragraphs>130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Lato</vt:lpstr>
      <vt:lpstr>Playfair Display</vt:lpstr>
      <vt:lpstr>Times New Roman</vt:lpstr>
      <vt:lpstr>Arial</vt:lpstr>
      <vt:lpstr>Calibri</vt:lpstr>
      <vt:lpstr>Red Rectangle</vt:lpstr>
      <vt:lpstr>Constrained DAG Structure Learning via  Variational Auto Encoder</vt:lpstr>
      <vt:lpstr>PowerPoint Presentation</vt:lpstr>
      <vt:lpstr>PowerPoint Presentation</vt:lpstr>
      <vt:lpstr>2.2 Constrained structural learning—ANOCE: CVAE algorithm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  <vt:lpstr>VAE Constraints</vt:lpstr>
      <vt:lpstr>PowerPoint Presentation</vt:lpstr>
      <vt:lpstr>Simulated Dataset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ANOCE: Analysis of Causal Effects with Multiple Mediators via Constrained Structural Learning</dc:title>
  <cp:lastModifiedBy>Si Yaqin</cp:lastModifiedBy>
  <cp:revision>4</cp:revision>
  <dcterms:modified xsi:type="dcterms:W3CDTF">2022-04-29T03:22:41Z</dcterms:modified>
</cp:coreProperties>
</file>