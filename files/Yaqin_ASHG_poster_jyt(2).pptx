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29260800" cy="39319200"/>
  <p:notesSz cx="6858000" cy="9144000"/>
  <p:defaultTextStyle>
    <a:defPPr>
      <a:defRPr lang="en-US"/>
    </a:defPPr>
    <a:lvl1pPr marL="0" algn="l" defTabSz="1932683" rtl="0" eaLnBrk="1" latinLnBrk="0" hangingPunct="1">
      <a:defRPr sz="7645" kern="1200">
        <a:solidFill>
          <a:schemeClr val="tx1"/>
        </a:solidFill>
        <a:latin typeface="+mn-lt"/>
        <a:ea typeface="+mn-ea"/>
        <a:cs typeface="+mn-cs"/>
      </a:defRPr>
    </a:lvl1pPr>
    <a:lvl2pPr marL="1932683" algn="l" defTabSz="1932683" rtl="0" eaLnBrk="1" latinLnBrk="0" hangingPunct="1">
      <a:defRPr sz="7645" kern="1200">
        <a:solidFill>
          <a:schemeClr val="tx1"/>
        </a:solidFill>
        <a:latin typeface="+mn-lt"/>
        <a:ea typeface="+mn-ea"/>
        <a:cs typeface="+mn-cs"/>
      </a:defRPr>
    </a:lvl2pPr>
    <a:lvl3pPr marL="3865366" algn="l" defTabSz="1932683" rtl="0" eaLnBrk="1" latinLnBrk="0" hangingPunct="1">
      <a:defRPr sz="7645" kern="1200">
        <a:solidFill>
          <a:schemeClr val="tx1"/>
        </a:solidFill>
        <a:latin typeface="+mn-lt"/>
        <a:ea typeface="+mn-ea"/>
        <a:cs typeface="+mn-cs"/>
      </a:defRPr>
    </a:lvl3pPr>
    <a:lvl4pPr marL="5798050" algn="l" defTabSz="1932683" rtl="0" eaLnBrk="1" latinLnBrk="0" hangingPunct="1">
      <a:defRPr sz="7645" kern="1200">
        <a:solidFill>
          <a:schemeClr val="tx1"/>
        </a:solidFill>
        <a:latin typeface="+mn-lt"/>
        <a:ea typeface="+mn-ea"/>
        <a:cs typeface="+mn-cs"/>
      </a:defRPr>
    </a:lvl4pPr>
    <a:lvl5pPr marL="7730732" algn="l" defTabSz="1932683" rtl="0" eaLnBrk="1" latinLnBrk="0" hangingPunct="1">
      <a:defRPr sz="7645" kern="1200">
        <a:solidFill>
          <a:schemeClr val="tx1"/>
        </a:solidFill>
        <a:latin typeface="+mn-lt"/>
        <a:ea typeface="+mn-ea"/>
        <a:cs typeface="+mn-cs"/>
      </a:defRPr>
    </a:lvl5pPr>
    <a:lvl6pPr marL="9663415" algn="l" defTabSz="1932683" rtl="0" eaLnBrk="1" latinLnBrk="0" hangingPunct="1">
      <a:defRPr sz="7645" kern="1200">
        <a:solidFill>
          <a:schemeClr val="tx1"/>
        </a:solidFill>
        <a:latin typeface="+mn-lt"/>
        <a:ea typeface="+mn-ea"/>
        <a:cs typeface="+mn-cs"/>
      </a:defRPr>
    </a:lvl6pPr>
    <a:lvl7pPr marL="11596098" algn="l" defTabSz="1932683" rtl="0" eaLnBrk="1" latinLnBrk="0" hangingPunct="1">
      <a:defRPr sz="7645" kern="1200">
        <a:solidFill>
          <a:schemeClr val="tx1"/>
        </a:solidFill>
        <a:latin typeface="+mn-lt"/>
        <a:ea typeface="+mn-ea"/>
        <a:cs typeface="+mn-cs"/>
      </a:defRPr>
    </a:lvl7pPr>
    <a:lvl8pPr marL="13528781" algn="l" defTabSz="1932683" rtl="0" eaLnBrk="1" latinLnBrk="0" hangingPunct="1">
      <a:defRPr sz="7645" kern="1200">
        <a:solidFill>
          <a:schemeClr val="tx1"/>
        </a:solidFill>
        <a:latin typeface="+mn-lt"/>
        <a:ea typeface="+mn-ea"/>
        <a:cs typeface="+mn-cs"/>
      </a:defRPr>
    </a:lvl8pPr>
    <a:lvl9pPr marL="15461466" algn="l" defTabSz="1932683" rtl="0" eaLnBrk="1" latinLnBrk="0" hangingPunct="1">
      <a:defRPr sz="764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E69AB7A-88B6-3F48-8D36-5FEA1EB11A5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4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2384" userDrawn="1">
          <p15:clr>
            <a:srgbClr val="A4A3A4"/>
          </p15:clr>
        </p15:guide>
        <p15:guide id="4" pos="9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FA5"/>
    <a:srgbClr val="4D4D4D"/>
    <a:srgbClr val="E69F00"/>
    <a:srgbClr val="777777"/>
    <a:srgbClr val="72528A"/>
    <a:srgbClr val="865E3D"/>
    <a:srgbClr val="009E73"/>
    <a:srgbClr val="CC79A7"/>
    <a:srgbClr val="0073C2"/>
    <a:srgbClr val="807D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68" autoAdjust="0"/>
    <p:restoredTop sz="96695" autoAdjust="0"/>
  </p:normalViewPr>
  <p:slideViewPr>
    <p:cSldViewPr snapToGrid="0" snapToObjects="1">
      <p:cViewPr>
        <p:scale>
          <a:sx n="25" d="100"/>
          <a:sy n="25" d="100"/>
        </p:scale>
        <p:origin x="1188" y="16"/>
      </p:cViewPr>
      <p:guideLst>
        <p:guide orient="horz" pos="3440"/>
        <p:guide pos="2880"/>
        <p:guide orient="horz" pos="12384"/>
        <p:guide pos="92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13338-95DD-42A8-BE01-3D68054ECB7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1238" y="1143000"/>
            <a:ext cx="2295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A0047-FB0D-445E-BAC5-50B3ACD5C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14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27422" rtl="0" eaLnBrk="1" latinLnBrk="0" hangingPunct="1">
      <a:defRPr sz="1480" kern="1200">
        <a:solidFill>
          <a:schemeClr val="tx1"/>
        </a:solidFill>
        <a:latin typeface="+mn-lt"/>
        <a:ea typeface="+mn-ea"/>
        <a:cs typeface="+mn-cs"/>
      </a:defRPr>
    </a:lvl1pPr>
    <a:lvl2pPr marL="563712" algn="l" defTabSz="1127422" rtl="0" eaLnBrk="1" latinLnBrk="0" hangingPunct="1">
      <a:defRPr sz="1480" kern="1200">
        <a:solidFill>
          <a:schemeClr val="tx1"/>
        </a:solidFill>
        <a:latin typeface="+mn-lt"/>
        <a:ea typeface="+mn-ea"/>
        <a:cs typeface="+mn-cs"/>
      </a:defRPr>
    </a:lvl2pPr>
    <a:lvl3pPr marL="1127422" algn="l" defTabSz="1127422" rtl="0" eaLnBrk="1" latinLnBrk="0" hangingPunct="1">
      <a:defRPr sz="1480" kern="1200">
        <a:solidFill>
          <a:schemeClr val="tx1"/>
        </a:solidFill>
        <a:latin typeface="+mn-lt"/>
        <a:ea typeface="+mn-ea"/>
        <a:cs typeface="+mn-cs"/>
      </a:defRPr>
    </a:lvl3pPr>
    <a:lvl4pPr marL="1691133" algn="l" defTabSz="1127422" rtl="0" eaLnBrk="1" latinLnBrk="0" hangingPunct="1">
      <a:defRPr sz="1480" kern="1200">
        <a:solidFill>
          <a:schemeClr val="tx1"/>
        </a:solidFill>
        <a:latin typeface="+mn-lt"/>
        <a:ea typeface="+mn-ea"/>
        <a:cs typeface="+mn-cs"/>
      </a:defRPr>
    </a:lvl4pPr>
    <a:lvl5pPr marL="2254844" algn="l" defTabSz="1127422" rtl="0" eaLnBrk="1" latinLnBrk="0" hangingPunct="1">
      <a:defRPr sz="1480" kern="1200">
        <a:solidFill>
          <a:schemeClr val="tx1"/>
        </a:solidFill>
        <a:latin typeface="+mn-lt"/>
        <a:ea typeface="+mn-ea"/>
        <a:cs typeface="+mn-cs"/>
      </a:defRPr>
    </a:lvl5pPr>
    <a:lvl6pPr marL="2818556" algn="l" defTabSz="1127422" rtl="0" eaLnBrk="1" latinLnBrk="0" hangingPunct="1">
      <a:defRPr sz="1480" kern="1200">
        <a:solidFill>
          <a:schemeClr val="tx1"/>
        </a:solidFill>
        <a:latin typeface="+mn-lt"/>
        <a:ea typeface="+mn-ea"/>
        <a:cs typeface="+mn-cs"/>
      </a:defRPr>
    </a:lvl6pPr>
    <a:lvl7pPr marL="3382265" algn="l" defTabSz="1127422" rtl="0" eaLnBrk="1" latinLnBrk="0" hangingPunct="1">
      <a:defRPr sz="1480" kern="1200">
        <a:solidFill>
          <a:schemeClr val="tx1"/>
        </a:solidFill>
        <a:latin typeface="+mn-lt"/>
        <a:ea typeface="+mn-ea"/>
        <a:cs typeface="+mn-cs"/>
      </a:defRPr>
    </a:lvl7pPr>
    <a:lvl8pPr marL="3945976" algn="l" defTabSz="1127422" rtl="0" eaLnBrk="1" latinLnBrk="0" hangingPunct="1">
      <a:defRPr sz="1480" kern="1200">
        <a:solidFill>
          <a:schemeClr val="tx1"/>
        </a:solidFill>
        <a:latin typeface="+mn-lt"/>
        <a:ea typeface="+mn-ea"/>
        <a:cs typeface="+mn-cs"/>
      </a:defRPr>
    </a:lvl8pPr>
    <a:lvl9pPr marL="4509687" algn="l" defTabSz="1127422" rtl="0" eaLnBrk="1" latinLnBrk="0" hangingPunct="1">
      <a:defRPr sz="14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2650" y="685800"/>
            <a:ext cx="25527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4560" y="12214449"/>
            <a:ext cx="24871680" cy="84281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9120" y="22280880"/>
            <a:ext cx="20482560" cy="100482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5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50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25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901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766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51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272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802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74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36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1403" y="25266228"/>
            <a:ext cx="24871680" cy="7809230"/>
          </a:xfrm>
        </p:spPr>
        <p:txBody>
          <a:bodyPr anchor="t"/>
          <a:lstStyle>
            <a:lvl1pPr algn="l">
              <a:defRPr sz="1289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1403" y="16665161"/>
            <a:ext cx="24871680" cy="8601070"/>
          </a:xfrm>
        </p:spPr>
        <p:txBody>
          <a:bodyPr anchor="b"/>
          <a:lstStyle>
            <a:lvl1pPr marL="0" indent="0">
              <a:buNone/>
              <a:defRPr sz="6494">
                <a:solidFill>
                  <a:schemeClr val="tx1">
                    <a:tint val="75000"/>
                  </a:schemeClr>
                </a:solidFill>
              </a:defRPr>
            </a:lvl1pPr>
            <a:lvl2pPr marL="1475326" indent="0">
              <a:buNone/>
              <a:defRPr sz="5836">
                <a:solidFill>
                  <a:schemeClr val="tx1">
                    <a:tint val="75000"/>
                  </a:schemeClr>
                </a:solidFill>
              </a:defRPr>
            </a:lvl2pPr>
            <a:lvl3pPr marL="2950652" indent="0">
              <a:buNone/>
              <a:defRPr sz="5176">
                <a:solidFill>
                  <a:schemeClr val="tx1">
                    <a:tint val="75000"/>
                  </a:schemeClr>
                </a:solidFill>
              </a:defRPr>
            </a:lvl3pPr>
            <a:lvl4pPr marL="4425979" indent="0">
              <a:buNone/>
              <a:defRPr sz="4518">
                <a:solidFill>
                  <a:schemeClr val="tx1">
                    <a:tint val="75000"/>
                  </a:schemeClr>
                </a:solidFill>
              </a:defRPr>
            </a:lvl4pPr>
            <a:lvl5pPr marL="5901305" indent="0">
              <a:buNone/>
              <a:defRPr sz="4518">
                <a:solidFill>
                  <a:schemeClr val="tx1">
                    <a:tint val="75000"/>
                  </a:schemeClr>
                </a:solidFill>
              </a:defRPr>
            </a:lvl5pPr>
            <a:lvl6pPr marL="7376631" indent="0">
              <a:buNone/>
              <a:defRPr sz="4518">
                <a:solidFill>
                  <a:schemeClr val="tx1">
                    <a:tint val="75000"/>
                  </a:schemeClr>
                </a:solidFill>
              </a:defRPr>
            </a:lvl6pPr>
            <a:lvl7pPr marL="8851957" indent="0">
              <a:buNone/>
              <a:defRPr sz="4518">
                <a:solidFill>
                  <a:schemeClr val="tx1">
                    <a:tint val="75000"/>
                  </a:schemeClr>
                </a:solidFill>
              </a:defRPr>
            </a:lvl7pPr>
            <a:lvl8pPr marL="10327283" indent="0">
              <a:buNone/>
              <a:defRPr sz="4518">
                <a:solidFill>
                  <a:schemeClr val="tx1">
                    <a:tint val="75000"/>
                  </a:schemeClr>
                </a:solidFill>
              </a:defRPr>
            </a:lvl8pPr>
            <a:lvl9pPr marL="11802610" indent="0">
              <a:buNone/>
              <a:defRPr sz="45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5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3040" y="9174491"/>
            <a:ext cx="12923520" cy="25948853"/>
          </a:xfrm>
        </p:spPr>
        <p:txBody>
          <a:bodyPr/>
          <a:lstStyle>
            <a:lvl1pPr>
              <a:defRPr sz="9036"/>
            </a:lvl1pPr>
            <a:lvl2pPr>
              <a:defRPr sz="7718"/>
            </a:lvl2pPr>
            <a:lvl3pPr>
              <a:defRPr sz="6494"/>
            </a:lvl3pPr>
            <a:lvl4pPr>
              <a:defRPr sz="5836"/>
            </a:lvl4pPr>
            <a:lvl5pPr>
              <a:defRPr sz="5836"/>
            </a:lvl5pPr>
            <a:lvl6pPr>
              <a:defRPr sz="5836"/>
            </a:lvl6pPr>
            <a:lvl7pPr>
              <a:defRPr sz="5836"/>
            </a:lvl7pPr>
            <a:lvl8pPr>
              <a:defRPr sz="5836"/>
            </a:lvl8pPr>
            <a:lvl9pPr>
              <a:defRPr sz="58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4240" y="9174491"/>
            <a:ext cx="12923520" cy="25948853"/>
          </a:xfrm>
        </p:spPr>
        <p:txBody>
          <a:bodyPr/>
          <a:lstStyle>
            <a:lvl1pPr>
              <a:defRPr sz="9036"/>
            </a:lvl1pPr>
            <a:lvl2pPr>
              <a:defRPr sz="7718"/>
            </a:lvl2pPr>
            <a:lvl3pPr>
              <a:defRPr sz="6494"/>
            </a:lvl3pPr>
            <a:lvl4pPr>
              <a:defRPr sz="5836"/>
            </a:lvl4pPr>
            <a:lvl5pPr>
              <a:defRPr sz="5836"/>
            </a:lvl5pPr>
            <a:lvl6pPr>
              <a:defRPr sz="5836"/>
            </a:lvl6pPr>
            <a:lvl7pPr>
              <a:defRPr sz="5836"/>
            </a:lvl7pPr>
            <a:lvl8pPr>
              <a:defRPr sz="5836"/>
            </a:lvl8pPr>
            <a:lvl9pPr>
              <a:defRPr sz="58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6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7" y="8801317"/>
            <a:ext cx="12928601" cy="3667969"/>
          </a:xfrm>
        </p:spPr>
        <p:txBody>
          <a:bodyPr anchor="b"/>
          <a:lstStyle>
            <a:lvl1pPr marL="0" indent="0">
              <a:buNone/>
              <a:defRPr sz="7718" b="1"/>
            </a:lvl1pPr>
            <a:lvl2pPr marL="1475326" indent="0">
              <a:buNone/>
              <a:defRPr sz="6494" b="1"/>
            </a:lvl2pPr>
            <a:lvl3pPr marL="2950652" indent="0">
              <a:buNone/>
              <a:defRPr sz="5836" b="1"/>
            </a:lvl3pPr>
            <a:lvl4pPr marL="4425979" indent="0">
              <a:buNone/>
              <a:defRPr sz="5176" b="1"/>
            </a:lvl4pPr>
            <a:lvl5pPr marL="5901305" indent="0">
              <a:buNone/>
              <a:defRPr sz="5176" b="1"/>
            </a:lvl5pPr>
            <a:lvl6pPr marL="7376631" indent="0">
              <a:buNone/>
              <a:defRPr sz="5176" b="1"/>
            </a:lvl6pPr>
            <a:lvl7pPr marL="8851957" indent="0">
              <a:buNone/>
              <a:defRPr sz="5176" b="1"/>
            </a:lvl7pPr>
            <a:lvl8pPr marL="10327283" indent="0">
              <a:buNone/>
              <a:defRPr sz="5176" b="1"/>
            </a:lvl8pPr>
            <a:lvl9pPr marL="11802610" indent="0">
              <a:buNone/>
              <a:defRPr sz="51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3047" y="12469286"/>
            <a:ext cx="12928601" cy="22654051"/>
          </a:xfrm>
        </p:spPr>
        <p:txBody>
          <a:bodyPr/>
          <a:lstStyle>
            <a:lvl1pPr>
              <a:defRPr sz="7718"/>
            </a:lvl1pPr>
            <a:lvl2pPr>
              <a:defRPr sz="6494"/>
            </a:lvl2pPr>
            <a:lvl3pPr>
              <a:defRPr sz="5836"/>
            </a:lvl3pPr>
            <a:lvl4pPr>
              <a:defRPr sz="5176"/>
            </a:lvl4pPr>
            <a:lvl5pPr>
              <a:defRPr sz="5176"/>
            </a:lvl5pPr>
            <a:lvl6pPr>
              <a:defRPr sz="5176"/>
            </a:lvl6pPr>
            <a:lvl7pPr>
              <a:defRPr sz="5176"/>
            </a:lvl7pPr>
            <a:lvl8pPr>
              <a:defRPr sz="5176"/>
            </a:lvl8pPr>
            <a:lvl9pPr>
              <a:defRPr sz="51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64083" y="8801317"/>
            <a:ext cx="12933680" cy="3667969"/>
          </a:xfrm>
        </p:spPr>
        <p:txBody>
          <a:bodyPr anchor="b"/>
          <a:lstStyle>
            <a:lvl1pPr marL="0" indent="0">
              <a:buNone/>
              <a:defRPr sz="7718" b="1"/>
            </a:lvl1pPr>
            <a:lvl2pPr marL="1475326" indent="0">
              <a:buNone/>
              <a:defRPr sz="6494" b="1"/>
            </a:lvl2pPr>
            <a:lvl3pPr marL="2950652" indent="0">
              <a:buNone/>
              <a:defRPr sz="5836" b="1"/>
            </a:lvl3pPr>
            <a:lvl4pPr marL="4425979" indent="0">
              <a:buNone/>
              <a:defRPr sz="5176" b="1"/>
            </a:lvl4pPr>
            <a:lvl5pPr marL="5901305" indent="0">
              <a:buNone/>
              <a:defRPr sz="5176" b="1"/>
            </a:lvl5pPr>
            <a:lvl6pPr marL="7376631" indent="0">
              <a:buNone/>
              <a:defRPr sz="5176" b="1"/>
            </a:lvl6pPr>
            <a:lvl7pPr marL="8851957" indent="0">
              <a:buNone/>
              <a:defRPr sz="5176" b="1"/>
            </a:lvl7pPr>
            <a:lvl8pPr marL="10327283" indent="0">
              <a:buNone/>
              <a:defRPr sz="5176" b="1"/>
            </a:lvl8pPr>
            <a:lvl9pPr marL="11802610" indent="0">
              <a:buNone/>
              <a:defRPr sz="51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64083" y="12469286"/>
            <a:ext cx="12933680" cy="22654051"/>
          </a:xfrm>
        </p:spPr>
        <p:txBody>
          <a:bodyPr/>
          <a:lstStyle>
            <a:lvl1pPr>
              <a:defRPr sz="7718"/>
            </a:lvl1pPr>
            <a:lvl2pPr>
              <a:defRPr sz="6494"/>
            </a:lvl2pPr>
            <a:lvl3pPr>
              <a:defRPr sz="5836"/>
            </a:lvl3pPr>
            <a:lvl4pPr>
              <a:defRPr sz="5176"/>
            </a:lvl4pPr>
            <a:lvl5pPr>
              <a:defRPr sz="5176"/>
            </a:lvl5pPr>
            <a:lvl6pPr>
              <a:defRPr sz="5176"/>
            </a:lvl6pPr>
            <a:lvl7pPr>
              <a:defRPr sz="5176"/>
            </a:lvl7pPr>
            <a:lvl8pPr>
              <a:defRPr sz="5176"/>
            </a:lvl8pPr>
            <a:lvl9pPr>
              <a:defRPr sz="51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2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6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5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5" y="1565488"/>
            <a:ext cx="9626603" cy="6662420"/>
          </a:xfrm>
        </p:spPr>
        <p:txBody>
          <a:bodyPr anchor="b"/>
          <a:lstStyle>
            <a:lvl1pPr algn="l">
              <a:defRPr sz="64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40162" y="1565491"/>
            <a:ext cx="16357603" cy="33557850"/>
          </a:xfrm>
        </p:spPr>
        <p:txBody>
          <a:bodyPr/>
          <a:lstStyle>
            <a:lvl1pPr>
              <a:defRPr sz="10353"/>
            </a:lvl1pPr>
            <a:lvl2pPr>
              <a:defRPr sz="9036"/>
            </a:lvl2pPr>
            <a:lvl3pPr>
              <a:defRPr sz="7718"/>
            </a:lvl3pPr>
            <a:lvl4pPr>
              <a:defRPr sz="6494"/>
            </a:lvl4pPr>
            <a:lvl5pPr>
              <a:defRPr sz="6494"/>
            </a:lvl5pPr>
            <a:lvl6pPr>
              <a:defRPr sz="6494"/>
            </a:lvl6pPr>
            <a:lvl7pPr>
              <a:defRPr sz="6494"/>
            </a:lvl7pPr>
            <a:lvl8pPr>
              <a:defRPr sz="6494"/>
            </a:lvl8pPr>
            <a:lvl9pPr>
              <a:defRPr sz="64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3045" y="8227911"/>
            <a:ext cx="9626603" cy="26895430"/>
          </a:xfrm>
        </p:spPr>
        <p:txBody>
          <a:bodyPr/>
          <a:lstStyle>
            <a:lvl1pPr marL="0" indent="0">
              <a:buNone/>
              <a:defRPr sz="4518"/>
            </a:lvl1pPr>
            <a:lvl2pPr marL="1475326" indent="0">
              <a:buNone/>
              <a:defRPr sz="3858"/>
            </a:lvl2pPr>
            <a:lvl3pPr marL="2950652" indent="0">
              <a:buNone/>
              <a:defRPr sz="3200"/>
            </a:lvl3pPr>
            <a:lvl4pPr marL="4425979" indent="0">
              <a:buNone/>
              <a:defRPr sz="2918"/>
            </a:lvl4pPr>
            <a:lvl5pPr marL="5901305" indent="0">
              <a:buNone/>
              <a:defRPr sz="2918"/>
            </a:lvl5pPr>
            <a:lvl6pPr marL="7376631" indent="0">
              <a:buNone/>
              <a:defRPr sz="2918"/>
            </a:lvl6pPr>
            <a:lvl7pPr marL="8851957" indent="0">
              <a:buNone/>
              <a:defRPr sz="2918"/>
            </a:lvl7pPr>
            <a:lvl8pPr marL="10327283" indent="0">
              <a:buNone/>
              <a:defRPr sz="2918"/>
            </a:lvl8pPr>
            <a:lvl9pPr marL="11802610" indent="0">
              <a:buNone/>
              <a:defRPr sz="29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20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5321" y="27523444"/>
            <a:ext cx="17556480" cy="3249300"/>
          </a:xfrm>
        </p:spPr>
        <p:txBody>
          <a:bodyPr anchor="b"/>
          <a:lstStyle>
            <a:lvl1pPr algn="l">
              <a:defRPr sz="64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735321" y="3513242"/>
            <a:ext cx="17556480" cy="23591520"/>
          </a:xfrm>
        </p:spPr>
        <p:txBody>
          <a:bodyPr/>
          <a:lstStyle>
            <a:lvl1pPr marL="0" indent="0">
              <a:buNone/>
              <a:defRPr sz="10353"/>
            </a:lvl1pPr>
            <a:lvl2pPr marL="1475326" indent="0">
              <a:buNone/>
              <a:defRPr sz="9036"/>
            </a:lvl2pPr>
            <a:lvl3pPr marL="2950652" indent="0">
              <a:buNone/>
              <a:defRPr sz="7718"/>
            </a:lvl3pPr>
            <a:lvl4pPr marL="4425979" indent="0">
              <a:buNone/>
              <a:defRPr sz="6494"/>
            </a:lvl4pPr>
            <a:lvl5pPr marL="5901305" indent="0">
              <a:buNone/>
              <a:defRPr sz="6494"/>
            </a:lvl5pPr>
            <a:lvl6pPr marL="7376631" indent="0">
              <a:buNone/>
              <a:defRPr sz="6494"/>
            </a:lvl6pPr>
            <a:lvl7pPr marL="8851957" indent="0">
              <a:buNone/>
              <a:defRPr sz="6494"/>
            </a:lvl7pPr>
            <a:lvl8pPr marL="10327283" indent="0">
              <a:buNone/>
              <a:defRPr sz="6494"/>
            </a:lvl8pPr>
            <a:lvl9pPr marL="11802610" indent="0">
              <a:buNone/>
              <a:defRPr sz="649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35321" y="30772744"/>
            <a:ext cx="17556480" cy="4614540"/>
          </a:xfrm>
        </p:spPr>
        <p:txBody>
          <a:bodyPr/>
          <a:lstStyle>
            <a:lvl1pPr marL="0" indent="0">
              <a:buNone/>
              <a:defRPr sz="4518"/>
            </a:lvl1pPr>
            <a:lvl2pPr marL="1475326" indent="0">
              <a:buNone/>
              <a:defRPr sz="3858"/>
            </a:lvl2pPr>
            <a:lvl3pPr marL="2950652" indent="0">
              <a:buNone/>
              <a:defRPr sz="3200"/>
            </a:lvl3pPr>
            <a:lvl4pPr marL="4425979" indent="0">
              <a:buNone/>
              <a:defRPr sz="2918"/>
            </a:lvl4pPr>
            <a:lvl5pPr marL="5901305" indent="0">
              <a:buNone/>
              <a:defRPr sz="2918"/>
            </a:lvl5pPr>
            <a:lvl6pPr marL="7376631" indent="0">
              <a:buNone/>
              <a:defRPr sz="2918"/>
            </a:lvl6pPr>
            <a:lvl7pPr marL="8851957" indent="0">
              <a:buNone/>
              <a:defRPr sz="2918"/>
            </a:lvl7pPr>
            <a:lvl8pPr marL="10327283" indent="0">
              <a:buNone/>
              <a:defRPr sz="2918"/>
            </a:lvl8pPr>
            <a:lvl9pPr marL="11802610" indent="0">
              <a:buNone/>
              <a:defRPr sz="29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7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214080" y="1574601"/>
            <a:ext cx="6583680" cy="335487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3040" y="1574601"/>
            <a:ext cx="19263360" cy="335487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2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0" y="1574591"/>
            <a:ext cx="26334720" cy="6553200"/>
          </a:xfrm>
          <a:prstGeom prst="rect">
            <a:avLst/>
          </a:prstGeom>
        </p:spPr>
        <p:txBody>
          <a:bodyPr vert="horz" lIns="313502" tIns="156751" rIns="313502" bIns="156751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9174491"/>
            <a:ext cx="26334720" cy="25948853"/>
          </a:xfrm>
          <a:prstGeom prst="rect">
            <a:avLst/>
          </a:prstGeom>
        </p:spPr>
        <p:txBody>
          <a:bodyPr vert="horz" lIns="313502" tIns="156751" rIns="313502" bIns="1567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3040" y="36443081"/>
            <a:ext cx="6827520" cy="2093382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l">
              <a:defRPr sz="38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0A2AF-204D-5948-AC6E-7C3FEE35785C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7440" y="36443081"/>
            <a:ext cx="9265920" cy="2093382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ctr">
              <a:defRPr sz="38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970240" y="36443081"/>
            <a:ext cx="6827520" cy="2093382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r">
              <a:defRPr sz="38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ABAE2-2DAC-D247-AE45-829E78D7F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1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75326" rtl="0" eaLnBrk="1" latinLnBrk="0" hangingPunct="1">
        <a:spcBef>
          <a:spcPct val="0"/>
        </a:spcBef>
        <a:buNone/>
        <a:defRPr sz="142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6495" indent="-1106495" algn="l" defTabSz="1475326" rtl="0" eaLnBrk="1" latinLnBrk="0" hangingPunct="1">
        <a:spcBef>
          <a:spcPct val="20000"/>
        </a:spcBef>
        <a:buFont typeface="Arial"/>
        <a:buChar char="•"/>
        <a:defRPr sz="10353" kern="1200">
          <a:solidFill>
            <a:schemeClr val="tx1"/>
          </a:solidFill>
          <a:latin typeface="+mn-lt"/>
          <a:ea typeface="+mn-ea"/>
          <a:cs typeface="+mn-cs"/>
        </a:defRPr>
      </a:lvl1pPr>
      <a:lvl2pPr marL="2397405" indent="-922079" algn="l" defTabSz="1475326" rtl="0" eaLnBrk="1" latinLnBrk="0" hangingPunct="1">
        <a:spcBef>
          <a:spcPct val="20000"/>
        </a:spcBef>
        <a:buFont typeface="Arial"/>
        <a:buChar char="–"/>
        <a:defRPr sz="9036" kern="1200">
          <a:solidFill>
            <a:schemeClr val="tx1"/>
          </a:solidFill>
          <a:latin typeface="+mn-lt"/>
          <a:ea typeface="+mn-ea"/>
          <a:cs typeface="+mn-cs"/>
        </a:defRPr>
      </a:lvl2pPr>
      <a:lvl3pPr marL="3688316" indent="-737663" algn="l" defTabSz="1475326" rtl="0" eaLnBrk="1" latinLnBrk="0" hangingPunct="1">
        <a:spcBef>
          <a:spcPct val="20000"/>
        </a:spcBef>
        <a:buFont typeface="Arial"/>
        <a:buChar char="•"/>
        <a:defRPr sz="7718" kern="1200">
          <a:solidFill>
            <a:schemeClr val="tx1"/>
          </a:solidFill>
          <a:latin typeface="+mn-lt"/>
          <a:ea typeface="+mn-ea"/>
          <a:cs typeface="+mn-cs"/>
        </a:defRPr>
      </a:lvl3pPr>
      <a:lvl4pPr marL="5163642" indent="-737663" algn="l" defTabSz="1475326" rtl="0" eaLnBrk="1" latinLnBrk="0" hangingPunct="1">
        <a:spcBef>
          <a:spcPct val="20000"/>
        </a:spcBef>
        <a:buFont typeface="Arial"/>
        <a:buChar char="–"/>
        <a:defRPr sz="6494" kern="1200">
          <a:solidFill>
            <a:schemeClr val="tx1"/>
          </a:solidFill>
          <a:latin typeface="+mn-lt"/>
          <a:ea typeface="+mn-ea"/>
          <a:cs typeface="+mn-cs"/>
        </a:defRPr>
      </a:lvl4pPr>
      <a:lvl5pPr marL="6638968" indent="-737663" algn="l" defTabSz="1475326" rtl="0" eaLnBrk="1" latinLnBrk="0" hangingPunct="1">
        <a:spcBef>
          <a:spcPct val="20000"/>
        </a:spcBef>
        <a:buFont typeface="Arial"/>
        <a:buChar char="»"/>
        <a:defRPr sz="6494" kern="1200">
          <a:solidFill>
            <a:schemeClr val="tx1"/>
          </a:solidFill>
          <a:latin typeface="+mn-lt"/>
          <a:ea typeface="+mn-ea"/>
          <a:cs typeface="+mn-cs"/>
        </a:defRPr>
      </a:lvl5pPr>
      <a:lvl6pPr marL="8114294" indent="-737663" algn="l" defTabSz="1475326" rtl="0" eaLnBrk="1" latinLnBrk="0" hangingPunct="1">
        <a:spcBef>
          <a:spcPct val="20000"/>
        </a:spcBef>
        <a:buFont typeface="Arial"/>
        <a:buChar char="•"/>
        <a:defRPr sz="6494" kern="1200">
          <a:solidFill>
            <a:schemeClr val="tx1"/>
          </a:solidFill>
          <a:latin typeface="+mn-lt"/>
          <a:ea typeface="+mn-ea"/>
          <a:cs typeface="+mn-cs"/>
        </a:defRPr>
      </a:lvl6pPr>
      <a:lvl7pPr marL="9589620" indent="-737663" algn="l" defTabSz="1475326" rtl="0" eaLnBrk="1" latinLnBrk="0" hangingPunct="1">
        <a:spcBef>
          <a:spcPct val="20000"/>
        </a:spcBef>
        <a:buFont typeface="Arial"/>
        <a:buChar char="•"/>
        <a:defRPr sz="6494" kern="1200">
          <a:solidFill>
            <a:schemeClr val="tx1"/>
          </a:solidFill>
          <a:latin typeface="+mn-lt"/>
          <a:ea typeface="+mn-ea"/>
          <a:cs typeface="+mn-cs"/>
        </a:defRPr>
      </a:lvl7pPr>
      <a:lvl8pPr marL="11064947" indent="-737663" algn="l" defTabSz="1475326" rtl="0" eaLnBrk="1" latinLnBrk="0" hangingPunct="1">
        <a:spcBef>
          <a:spcPct val="20000"/>
        </a:spcBef>
        <a:buFont typeface="Arial"/>
        <a:buChar char="•"/>
        <a:defRPr sz="6494" kern="1200">
          <a:solidFill>
            <a:schemeClr val="tx1"/>
          </a:solidFill>
          <a:latin typeface="+mn-lt"/>
          <a:ea typeface="+mn-ea"/>
          <a:cs typeface="+mn-cs"/>
        </a:defRPr>
      </a:lvl8pPr>
      <a:lvl9pPr marL="12540273" indent="-737663" algn="l" defTabSz="1475326" rtl="0" eaLnBrk="1" latinLnBrk="0" hangingPunct="1">
        <a:spcBef>
          <a:spcPct val="20000"/>
        </a:spcBef>
        <a:buFont typeface="Arial"/>
        <a:buChar char="•"/>
        <a:defRPr sz="6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75326" rtl="0" eaLnBrk="1" latinLnBrk="0" hangingPunct="1">
        <a:defRPr sz="5836" kern="1200">
          <a:solidFill>
            <a:schemeClr val="tx1"/>
          </a:solidFill>
          <a:latin typeface="+mn-lt"/>
          <a:ea typeface="+mn-ea"/>
          <a:cs typeface="+mn-cs"/>
        </a:defRPr>
      </a:lvl1pPr>
      <a:lvl2pPr marL="1475326" algn="l" defTabSz="1475326" rtl="0" eaLnBrk="1" latinLnBrk="0" hangingPunct="1">
        <a:defRPr sz="5836" kern="1200">
          <a:solidFill>
            <a:schemeClr val="tx1"/>
          </a:solidFill>
          <a:latin typeface="+mn-lt"/>
          <a:ea typeface="+mn-ea"/>
          <a:cs typeface="+mn-cs"/>
        </a:defRPr>
      </a:lvl2pPr>
      <a:lvl3pPr marL="2950652" algn="l" defTabSz="1475326" rtl="0" eaLnBrk="1" latinLnBrk="0" hangingPunct="1">
        <a:defRPr sz="5836" kern="1200">
          <a:solidFill>
            <a:schemeClr val="tx1"/>
          </a:solidFill>
          <a:latin typeface="+mn-lt"/>
          <a:ea typeface="+mn-ea"/>
          <a:cs typeface="+mn-cs"/>
        </a:defRPr>
      </a:lvl3pPr>
      <a:lvl4pPr marL="4425979" algn="l" defTabSz="1475326" rtl="0" eaLnBrk="1" latinLnBrk="0" hangingPunct="1">
        <a:defRPr sz="5836" kern="1200">
          <a:solidFill>
            <a:schemeClr val="tx1"/>
          </a:solidFill>
          <a:latin typeface="+mn-lt"/>
          <a:ea typeface="+mn-ea"/>
          <a:cs typeface="+mn-cs"/>
        </a:defRPr>
      </a:lvl4pPr>
      <a:lvl5pPr marL="5901305" algn="l" defTabSz="1475326" rtl="0" eaLnBrk="1" latinLnBrk="0" hangingPunct="1">
        <a:defRPr sz="5836" kern="1200">
          <a:solidFill>
            <a:schemeClr val="tx1"/>
          </a:solidFill>
          <a:latin typeface="+mn-lt"/>
          <a:ea typeface="+mn-ea"/>
          <a:cs typeface="+mn-cs"/>
        </a:defRPr>
      </a:lvl5pPr>
      <a:lvl6pPr marL="7376631" algn="l" defTabSz="1475326" rtl="0" eaLnBrk="1" latinLnBrk="0" hangingPunct="1">
        <a:defRPr sz="5836" kern="1200">
          <a:solidFill>
            <a:schemeClr val="tx1"/>
          </a:solidFill>
          <a:latin typeface="+mn-lt"/>
          <a:ea typeface="+mn-ea"/>
          <a:cs typeface="+mn-cs"/>
        </a:defRPr>
      </a:lvl6pPr>
      <a:lvl7pPr marL="8851957" algn="l" defTabSz="1475326" rtl="0" eaLnBrk="1" latinLnBrk="0" hangingPunct="1">
        <a:defRPr sz="5836" kern="1200">
          <a:solidFill>
            <a:schemeClr val="tx1"/>
          </a:solidFill>
          <a:latin typeface="+mn-lt"/>
          <a:ea typeface="+mn-ea"/>
          <a:cs typeface="+mn-cs"/>
        </a:defRPr>
      </a:lvl7pPr>
      <a:lvl8pPr marL="10327283" algn="l" defTabSz="1475326" rtl="0" eaLnBrk="1" latinLnBrk="0" hangingPunct="1">
        <a:defRPr sz="5836" kern="1200">
          <a:solidFill>
            <a:schemeClr val="tx1"/>
          </a:solidFill>
          <a:latin typeface="+mn-lt"/>
          <a:ea typeface="+mn-ea"/>
          <a:cs typeface="+mn-cs"/>
        </a:defRPr>
      </a:lvl8pPr>
      <a:lvl9pPr marL="11802610" algn="l" defTabSz="1475326" rtl="0" eaLnBrk="1" latinLnBrk="0" hangingPunct="1">
        <a:defRPr sz="58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D152B75-24F7-43EE-9F3A-0DB569ABE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8930" y="30199057"/>
            <a:ext cx="9023234" cy="6019157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8513489C-4209-44C3-B950-4BA776108B79}"/>
              </a:ext>
            </a:extLst>
          </p:cNvPr>
          <p:cNvSpPr/>
          <p:nvPr/>
        </p:nvSpPr>
        <p:spPr>
          <a:xfrm>
            <a:off x="17378862" y="6621352"/>
            <a:ext cx="12087823" cy="24561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4000" b="1" dirty="0">
                <a:solidFill>
                  <a:prstClr val="black"/>
                </a:solidFill>
                <a:cs typeface="Arial" panose="020B0604020202020204" pitchFamily="34" charset="0"/>
              </a:rPr>
              <a:t>Models to compare</a:t>
            </a:r>
          </a:p>
          <a:p>
            <a:pPr>
              <a:lnSpc>
                <a:spcPct val="120000"/>
              </a:lnSpc>
            </a:pPr>
            <a:r>
              <a:rPr lang="en-US" sz="3600" b="1" dirty="0">
                <a:highlight>
                  <a:srgbClr val="00FFFF"/>
                </a:highlight>
                <a:cs typeface="Arial" panose="020B0604020202020204" pitchFamily="34" charset="0"/>
              </a:rPr>
              <a:t>Baseline 1</a:t>
            </a:r>
            <a:r>
              <a:rPr lang="en-US" sz="3600" dirty="0">
                <a:cs typeface="Arial" panose="020B0604020202020204" pitchFamily="34" charset="0"/>
              </a:rPr>
              <a:t>: </a:t>
            </a:r>
            <a:r>
              <a:rPr lang="en-US" sz="3600" dirty="0" err="1">
                <a:cs typeface="Arial" panose="020B0604020202020204" pitchFamily="34" charset="0"/>
              </a:rPr>
              <a:t>Ds_Lasso</a:t>
            </a:r>
            <a:r>
              <a:rPr lang="en-US" sz="3600" dirty="0">
                <a:cs typeface="Arial" panose="020B0604020202020204" pitchFamily="34" charset="0"/>
              </a:rPr>
              <a:t> (X=|Dosage-2|)</a:t>
            </a:r>
            <a:endParaRPr lang="en-US" sz="36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3600" b="1" dirty="0">
                <a:highlight>
                  <a:srgbClr val="E69F00"/>
                </a:highlight>
                <a:cs typeface="Arial" panose="020B0604020202020204" pitchFamily="34" charset="0"/>
              </a:rPr>
              <a:t>Baseline 2</a:t>
            </a:r>
            <a:r>
              <a:rPr lang="en-US" sz="3600" dirty="0">
                <a:cs typeface="Arial" panose="020B0604020202020204" pitchFamily="34" charset="0"/>
              </a:rPr>
              <a:t>: </a:t>
            </a:r>
            <a:r>
              <a:rPr lang="en-US" sz="3600" dirty="0" err="1">
                <a:cs typeface="Arial" panose="020B0604020202020204" pitchFamily="34" charset="0"/>
              </a:rPr>
              <a:t>AUC_Lasso</a:t>
            </a:r>
            <a:r>
              <a:rPr lang="en-US" sz="3600" dirty="0">
                <a:cs typeface="Arial" panose="020B0604020202020204" pitchFamily="34" charset="0"/>
              </a:rPr>
              <a:t> (X=AUC)</a:t>
            </a:r>
          </a:p>
          <a:p>
            <a:pPr>
              <a:lnSpc>
                <a:spcPct val="120000"/>
              </a:lnSpc>
            </a:pPr>
            <a:r>
              <a:rPr lang="en-US" sz="3600" b="1" dirty="0">
                <a:highlight>
                  <a:srgbClr val="CC79A7"/>
                </a:highlight>
                <a:cs typeface="Arial" panose="020B0604020202020204" pitchFamily="34" charset="0"/>
              </a:rPr>
              <a:t>Model 1</a:t>
            </a:r>
            <a:r>
              <a:rPr lang="en-US" sz="3600" dirty="0">
                <a:cs typeface="Arial" panose="020B0604020202020204" pitchFamily="34" charset="0"/>
              </a:rPr>
              <a:t>: </a:t>
            </a:r>
            <a:r>
              <a:rPr lang="en-US" sz="3600" dirty="0" err="1">
                <a:cs typeface="Arial" panose="020B0604020202020204" pitchFamily="34" charset="0"/>
              </a:rPr>
              <a:t>AUC_Eql</a:t>
            </a:r>
            <a:r>
              <a:rPr lang="en-US" sz="3600" dirty="0">
                <a:cs typeface="Arial" panose="020B0604020202020204" pitchFamily="34" charset="0"/>
              </a:rPr>
              <a:t> (Lasso + Fusion Equal weight) </a:t>
            </a:r>
          </a:p>
          <a:p>
            <a:pPr>
              <a:lnSpc>
                <a:spcPct val="120000"/>
              </a:lnSpc>
            </a:pPr>
            <a:r>
              <a:rPr lang="en-US" sz="3600" b="1" dirty="0">
                <a:highlight>
                  <a:srgbClr val="009E73"/>
                </a:highlight>
                <a:cs typeface="Arial" panose="020B0604020202020204" pitchFamily="34" charset="0"/>
              </a:rPr>
              <a:t>Model 2</a:t>
            </a:r>
            <a:r>
              <a:rPr lang="en-US" sz="3600" dirty="0">
                <a:cs typeface="Arial" panose="020B0604020202020204" pitchFamily="34" charset="0"/>
              </a:rPr>
              <a:t>: </a:t>
            </a:r>
            <a:r>
              <a:rPr lang="en-US" sz="3600" dirty="0" err="1">
                <a:cs typeface="Arial" panose="020B0604020202020204" pitchFamily="34" charset="0"/>
              </a:rPr>
              <a:t>AUC_Cor</a:t>
            </a:r>
            <a:r>
              <a:rPr lang="en-US" sz="3600" dirty="0">
                <a:cs typeface="Arial" panose="020B0604020202020204" pitchFamily="34" charset="0"/>
              </a:rPr>
              <a:t> (Lasso + Fusion Correlation-based weight)</a:t>
            </a:r>
            <a:endParaRPr lang="en-US" sz="36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4400" b="1" dirty="0">
                <a:cs typeface="Arial" panose="020B0604020202020204" pitchFamily="34" charset="0"/>
              </a:rPr>
              <a:t>Simulation scenarios and results:</a:t>
            </a: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44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sz="1800" b="1" dirty="0"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4400" b="1" dirty="0">
                <a:cs typeface="Arial" panose="020B0604020202020204" pitchFamily="34" charset="0"/>
              </a:rPr>
              <a:t>Real data application:         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98869D2A-D20E-4DBC-82C6-25D865587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3432" y="10795062"/>
            <a:ext cx="11997368" cy="177837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2D28A09-10DE-407E-B06F-CCE49C217868}"/>
              </a:ext>
            </a:extLst>
          </p:cNvPr>
          <p:cNvGrpSpPr/>
          <p:nvPr/>
        </p:nvGrpSpPr>
        <p:grpSpPr>
          <a:xfrm>
            <a:off x="17232368" y="13646839"/>
            <a:ext cx="11978248" cy="12033717"/>
            <a:chOff x="17232367" y="12784006"/>
            <a:chExt cx="12050977" cy="1204371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338470D-5E2A-4191-BC55-AE1105F26929}"/>
                </a:ext>
              </a:extLst>
            </p:cNvPr>
            <p:cNvGrpSpPr/>
            <p:nvPr/>
          </p:nvGrpSpPr>
          <p:grpSpPr>
            <a:xfrm>
              <a:off x="17232367" y="12843471"/>
              <a:ext cx="4099683" cy="11946229"/>
              <a:chOff x="17232367" y="12843471"/>
              <a:chExt cx="4099683" cy="11946229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78986E1-FE7F-4D89-8F4E-16D9A2F03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283925" y="12843471"/>
                <a:ext cx="4048125" cy="7286625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F041069-0911-480D-907A-BF65D57C7D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232367" y="20046250"/>
                <a:ext cx="4048125" cy="4743450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AB1CD21-EE1A-41CD-B2E9-907DD7A7F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398873" y="15226616"/>
              <a:ext cx="1624450" cy="144480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C5F5078-AFD7-463C-8384-116C7A631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268370" y="22313324"/>
              <a:ext cx="1754953" cy="156087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44B9AD-C147-4403-ACBE-B4B08A546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139300" y="12843380"/>
              <a:ext cx="4048125" cy="728662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63EAFA-2387-414B-9B61-1D360DA30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417802" y="20122450"/>
              <a:ext cx="4048125" cy="46672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63228A2-E594-466B-B4CB-C51AD4506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482371" y="15462755"/>
              <a:ext cx="1565967" cy="116434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AFDE5C5-F0C6-4940-BD96-84098B0EA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3366274" y="22429749"/>
              <a:ext cx="1821151" cy="1354079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0FE7A60-45F9-4C38-8D16-B8D42A119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5093569" y="12784006"/>
              <a:ext cx="4048125" cy="72866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17BDCC1-CAA7-4041-89B4-0DF0EC92F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5235219" y="20160474"/>
              <a:ext cx="4048125" cy="46672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46B0091-13EC-43F4-8E90-A43F6B55B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7091979" y="15429474"/>
              <a:ext cx="1551379" cy="114254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B049D85-ED54-41F0-8672-280144140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6856760" y="22460778"/>
              <a:ext cx="1821152" cy="1341225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01F0866-AFEF-42C9-BA5E-7AACB9124710}"/>
                  </a:ext>
                </a:extLst>
              </p:cNvPr>
              <p:cNvSpPr/>
              <p:nvPr/>
            </p:nvSpPr>
            <p:spPr>
              <a:xfrm>
                <a:off x="331050" y="22074124"/>
                <a:ext cx="16517759" cy="7068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/>
                  <a:t>Proposed Model:</a:t>
                </a:r>
                <a:endParaRPr lang="en-US" sz="3600" dirty="0"/>
              </a:p>
              <a:p>
                <a:r>
                  <a:rPr lang="en-US" sz="1200" dirty="0">
                    <a:ea typeface="Cambria Math" panose="02040503050406030204" pitchFamily="18" charset="0"/>
                  </a:rPr>
                  <a:t>     </a:t>
                </a:r>
              </a:p>
              <a:p>
                <a:r>
                  <a:rPr lang="en-US" sz="360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𝒾</m:t>
                            </m:r>
                          </m:sub>
                        </m:sSub>
                      </m:e>
                    </m:d>
                    <m:r>
                      <a:rPr lang="en-US" sz="3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supHide m:val="on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</m:d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𝒾</m:t>
                            </m:r>
                          </m:sub>
                          <m:sup>
                            <m: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ds</m:t>
                        </m:r>
                      </m:e>
                    </m:nary>
                    <m:r>
                      <a:rPr lang="en-US" sz="3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rag</m:t>
                        </m:r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ℓ</m:t>
                        </m:r>
                      </m:sub>
                      <m:sup/>
                      <m:e>
                        <m:nary>
                          <m:naryPr>
                            <m:supHide m:val="on"/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frag</m:t>
                            </m:r>
                            <m: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ℓ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d>
                                  <m:d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sz="3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3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𝒾</m:t>
                                </m:r>
                              </m:sub>
                              <m:sup>
                                <m:r>
                                  <a:rPr lang="en-US" sz="3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3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ds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sz="3600" dirty="0"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en-US" sz="3600" dirty="0"/>
                  <a:t>       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sz="36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360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|"/>
                        <m:endChr m:val="|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Dosage</m:t>
                            </m:r>
                          </m:e>
                          <m:sub>
                            <m:r>
                              <a:rPr lang="en-US" sz="36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𝒾</m:t>
                            </m:r>
                            <m:r>
                              <a:rPr lang="en-US" sz="36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endParaRPr lang="en-US" sz="3600" dirty="0"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ea typeface="Cambria Math" panose="02040503050406030204" pitchFamily="18" charset="0"/>
                  </a:rPr>
                  <a:t>                                                                 </a:t>
                </a:r>
                <a:r>
                  <a:rPr lang="en-US" sz="3600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sz="3600" dirty="0">
                    <a:solidFill>
                      <a:schemeClr val="accent4">
                        <a:lumMod val="75000"/>
                      </a:schemeClr>
                    </a:solidFill>
                  </a:rPr>
                  <a:t>reference copy number</a:t>
                </a:r>
                <a:endParaRPr lang="en-US" sz="3600" dirty="0">
                  <a:solidFill>
                    <a:schemeClr val="accent4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ea typeface="Cambria Math" panose="02040503050406030204" pitchFamily="18" charset="0"/>
                  </a:rPr>
                  <a:t>               </a:t>
                </a:r>
                <a:r>
                  <a:rPr lang="en-US" sz="3600" dirty="0">
                    <a:solidFill>
                      <a:schemeClr val="accent6">
                        <a:lumMod val="50000"/>
                      </a:schemeClr>
                    </a:solidFill>
                  </a:rPr>
                  <a:t>subject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600" dirty="0">
                    <a:solidFill>
                      <a:schemeClr val="accent6">
                        <a:lumMod val="50000"/>
                      </a:schemeClr>
                    </a:solidFill>
                  </a:rPr>
                  <a:t>’s dosage                  </a:t>
                </a:r>
                <a:r>
                  <a:rPr lang="en-US" sz="3600" dirty="0"/>
                  <a:t>|</a:t>
                </a:r>
                <a:r>
                  <a:rPr lang="en-US" sz="3600" dirty="0">
                    <a:ea typeface="Cambria Math" panose="02040503050406030204" pitchFamily="18" charset="0"/>
                  </a:rPr>
                  <a:t>absolute value| accommodates</a:t>
                </a:r>
              </a:p>
              <a:p>
                <a:r>
                  <a:rPr lang="en-US" sz="3600" dirty="0"/>
                  <a:t>                   </a:t>
                </a:r>
                <a:r>
                  <a:rPr lang="en-US" sz="3600" dirty="0">
                    <a:solidFill>
                      <a:schemeClr val="accent6">
                        <a:lumMod val="50000"/>
                      </a:schemeClr>
                    </a:solidFill>
                  </a:rPr>
                  <a:t>at position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3600" dirty="0"/>
                  <a:t>                                 </a:t>
                </a:r>
                <a:r>
                  <a:rPr lang="en-US" sz="3600" dirty="0">
                    <a:ea typeface="Cambria Math" panose="02040503050406030204" pitchFamily="18" charset="0"/>
                  </a:rPr>
                  <a:t>duplication and deletion</a:t>
                </a:r>
              </a:p>
              <a:p>
                <a:endParaRPr lang="en-US" sz="1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Assume constant effect within a CNV fragment, i.e.,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d>
                      <m:dPr>
                        <m:ctrlP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r>
                      <a:rPr lang="en-US" sz="3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ℓ</m:t>
                        </m:r>
                      </m:sub>
                    </m:sSub>
                    <m:r>
                      <a:rPr lang="en-US" sz="3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3600" dirty="0">
                    <a:solidFill>
                      <a:srgbClr val="00B0F0"/>
                    </a:solidFill>
                    <a:cs typeface="Arial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3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  <m:brk m:alnAt="7"/>
                      </m:rPr>
                      <a:rPr lang="en-US" sz="360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360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rag</m:t>
                    </m:r>
                    <m:r>
                      <a:rPr lang="en-US" sz="360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ℓ</m:t>
                    </m:r>
                  </m:oMath>
                </a14:m>
                <a:endParaRPr lang="en-US" sz="3600" dirty="0">
                  <a:solidFill>
                    <a:srgbClr val="00B0F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           ∴</m:t>
                    </m:r>
                    <m:nary>
                      <m:naryPr>
                        <m:supHide m:val="on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frag</m:t>
                        </m:r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ℓ</m:t>
                        </m:r>
                      </m:sub>
                      <m:sup/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𝒾</m:t>
                            </m:r>
                          </m:sub>
                          <m:sup>
                            <m: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nary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sub>
                    </m:sSub>
                    <m:nary>
                      <m:naryPr>
                        <m:supHide m:val="on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frag</m:t>
                        </m:r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ℓ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𝒾</m:t>
                            </m:r>
                          </m:sub>
                          <m:sup>
                            <m: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nary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sub>
                    </m:sSub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𝒾</m:t>
                        </m:r>
                        <m:r>
                          <a:rPr lang="en-US" sz="360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3600" dirty="0">
                    <a:ea typeface="Cambria Math" panose="02040503050406030204" pitchFamily="18" charset="0"/>
                  </a:rPr>
                  <a:t>   </a:t>
                </a:r>
              </a:p>
              <a:p>
                <a:r>
                  <a:rPr lang="en-US" sz="3600" dirty="0">
                    <a:ea typeface="Cambria Math" panose="02040503050406030204" pitchFamily="18" charset="0"/>
                  </a:rPr>
                  <a:t>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4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3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sz="3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3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frag</m:t>
                        </m:r>
                        <m:r>
                          <a:rPr lang="en-US" sz="3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ℓ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3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𝒾</m:t>
                            </m:r>
                          </m:sub>
                          <m:sup>
                            <m:r>
                              <a:rPr lang="en-US" sz="3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d>
                          <m:dPr>
                            <m:ctrlP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3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nary>
                    <m:r>
                      <a:rPr lang="en-US" sz="3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area</m:t>
                    </m:r>
                    <m:r>
                      <a:rPr lang="en-US" sz="3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under</m:t>
                    </m:r>
                    <m:r>
                      <a:rPr lang="en-US" sz="3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4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𝐂𝐍𝐕</m:t>
                    </m:r>
                    <m:r>
                      <a:rPr lang="en-US" sz="34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curve</m:t>
                    </m:r>
                    <m:r>
                      <a:rPr lang="en-US" sz="3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400">
                            <a:highlight>
                              <a:srgbClr val="FFCC66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AUC</m:t>
                        </m:r>
                      </m:e>
                    </m:d>
                    <m:r>
                      <a:rPr lang="en-US" sz="3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400"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Len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𝒾</m:t>
                        </m:r>
                        <m:r>
                          <a:rPr lang="en-US" sz="3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sz="340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sz="3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400">
                                <a:highlight>
                                  <a:srgbClr val="00FFFF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Dosage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𝒾</m:t>
                            </m:r>
                            <m:r>
                              <a:rPr lang="en-US" sz="3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sub>
                        </m:sSub>
                        <m:r>
                          <a:rPr lang="en-US" sz="3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3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3400" dirty="0"/>
                  <a:t>       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The proposed model can be simplified as</a:t>
                </a:r>
              </a:p>
              <a:p>
                <a:pPr>
                  <a:spcBef>
                    <a:spcPts val="100"/>
                  </a:spcBef>
                </a:pPr>
                <a:r>
                  <a:rPr lang="en-US" sz="3600" dirty="0"/>
                  <a:t>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𝒾</m:t>
                            </m:r>
                          </m:sub>
                        </m:sSub>
                      </m:e>
                    </m:d>
                    <m:r>
                      <a:rPr lang="en-US" sz="36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sz="3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sub>
                        </m:sSub>
                        <m:sSub>
                          <m:sSub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       </a:t>
                </a:r>
                <a:r>
                  <a:rPr lang="en-US" sz="36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  </a:t>
                </a:r>
                <a:r>
                  <a:rPr lang="en-US" sz="3600" dirty="0">
                    <a:solidFill>
                      <a:srgbClr val="C00000"/>
                    </a:solidFill>
                  </a:rPr>
                  <a:t>regress trait on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≡ </m:t>
                    </m:r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“length”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”dosage”</a:t>
                </a:r>
              </a:p>
            </p:txBody>
          </p:sp>
        </mc:Choice>
        <mc:Fallback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01F0866-AFEF-42C9-BA5E-7AACB91247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50" y="22074124"/>
                <a:ext cx="16517759" cy="7068282"/>
              </a:xfrm>
              <a:prstGeom prst="rect">
                <a:avLst/>
              </a:prstGeom>
              <a:blipFill>
                <a:blip r:embed="rId17"/>
                <a:stretch>
                  <a:fillRect l="-1292" t="-1552" b="-2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53B78C5-245A-493E-B20F-2E79FF2C169E}"/>
                  </a:ext>
                </a:extLst>
              </p:cNvPr>
              <p:cNvSpPr/>
              <p:nvPr/>
            </p:nvSpPr>
            <p:spPr>
              <a:xfrm>
                <a:off x="357339" y="29134218"/>
                <a:ext cx="16820893" cy="97122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sz="4000" b="1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Model Fitting:</a:t>
                </a:r>
              </a:p>
              <a:p>
                <a:pPr marL="537891" indent="-537891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Proposed to impose two penalty terms:</a:t>
                </a:r>
              </a:p>
              <a:p>
                <a:pPr marL="982663" lvl="1" indent="-457200">
                  <a:lnSpc>
                    <a:spcPct val="120000"/>
                  </a:lnSpc>
                  <a:buFont typeface="Calibri" panose="020F0502020204030204" pitchFamily="34" charset="0"/>
                  <a:buChar char="–"/>
                </a:pPr>
                <a:r>
                  <a:rPr lang="en-US" sz="3600" dirty="0">
                    <a:solidFill>
                      <a:srgbClr val="C00000"/>
                    </a:solidFill>
                    <a:cs typeface="Arial" panose="020B0604020202020204" pitchFamily="34" charset="0"/>
                  </a:rPr>
                  <a:t>Lasso penalty</a:t>
                </a:r>
                <a:r>
                  <a:rPr lang="en-US" sz="36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to deal with high dimensionalities and to select phenotype-associated CNVs,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β</m:t>
                            </m:r>
                          </m:e>
                        </m:d>
                      </m:e>
                      <m:sub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3600" dirty="0">
                  <a:solidFill>
                    <a:prstClr val="black"/>
                  </a:solidFill>
                  <a:cs typeface="Arial" panose="020B0604020202020204" pitchFamily="34" charset="0"/>
                </a:endParaRPr>
              </a:p>
              <a:p>
                <a:pPr marL="1028700" lvl="1" indent="-503238">
                  <a:lnSpc>
                    <a:spcPct val="120000"/>
                  </a:lnSpc>
                  <a:buFont typeface="Calibri" panose="020F0502020204030204" pitchFamily="34" charset="0"/>
                  <a:buChar char="–"/>
                </a:pPr>
                <a:r>
                  <a:rPr lang="en-US" sz="3600" dirty="0">
                    <a:solidFill>
                      <a:srgbClr val="C00000"/>
                    </a:solidFill>
                    <a:cs typeface="Arial" panose="020B0604020202020204" pitchFamily="34" charset="0"/>
                  </a:rPr>
                  <a:t>Weighted Fusion penalty</a:t>
                </a:r>
                <a:r>
                  <a:rPr lang="en-US" sz="3600" dirty="0">
                    <a:solidFill>
                      <a:prstClr val="black"/>
                    </a:solidFill>
                    <a:cs typeface="Arial" panose="020B0604020202020204" pitchFamily="34" charset="0"/>
                  </a:rPr>
                  <a:t> to encourage (not force) adjacent CNV fragments to have similar effect size, i.e.,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  <m:r>
                              <a:rPr lang="en-US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  <m:r>
                              <a:rPr lang="en-US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sSup>
                          <m:sSupPr>
                            <m:ctrlP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3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36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sub>
                            </m:sSub>
                            <m: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3600" b="1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en-US" sz="4000" b="1" dirty="0">
                    <a:solidFill>
                      <a:prstClr val="black"/>
                    </a:solidFill>
                  </a:rPr>
                  <a:t>Model interpretation</a:t>
                </a:r>
              </a:p>
              <a:p>
                <a:pPr lvl="0"/>
                <a:endParaRPr lang="en-US" sz="1200" b="1" dirty="0">
                  <a:solidFill>
                    <a:prstClr val="black"/>
                  </a:solidFill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prstClr val="black"/>
                    </a:solidFill>
                  </a:rPr>
                  <a:t>Recall that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d>
                      <m:dPr>
                        <m:ctrlP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</m:d>
                    <m:r>
                      <a:rPr lang="en-US" sz="3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ℓ</m:t>
                        </m:r>
                      </m:sub>
                    </m:sSub>
                    <m:r>
                      <a:rPr lang="en-US" sz="3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3600" dirty="0">
                    <a:solidFill>
                      <a:srgbClr val="00B0F0"/>
                    </a:solidFill>
                    <a:cs typeface="Arial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36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  <m:brk m:alnAt="7"/>
                      </m:rPr>
                      <a:rPr lang="en-US" sz="360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360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rag</m:t>
                    </m:r>
                    <m:r>
                      <a:rPr lang="en-US" sz="360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ℓ</m:t>
                    </m:r>
                  </m:oMath>
                </a14:m>
                <a:r>
                  <a:rPr lang="en-US" sz="3600" dirty="0"/>
                  <a:t>, i.e., </a:t>
                </a:r>
              </a:p>
              <a:p>
                <a:r>
                  <a:rPr lang="en-US" sz="3600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sz="360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is CNV effect size at genomic position “s” with s in fragment </a:t>
                </a:r>
                <a14:m>
                  <m:oMath xmlns:m="http://schemas.openxmlformats.org/officeDocument/2006/math">
                    <m:r>
                      <a:rPr lang="en-US" sz="360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endParaRPr lang="en-US" sz="3600" dirty="0">
                  <a:solidFill>
                    <a:prstClr val="black"/>
                  </a:solidFill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prstClr val="black"/>
                    </a:solidFill>
                  </a:rPr>
                  <a:t>In contrast, in the commonly considered model,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𝒾</m:t>
                            </m:r>
                          </m:sub>
                        </m:sSub>
                      </m:e>
                    </m:d>
                    <m:r>
                      <a:rPr lang="en-US" sz="3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sz="3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ℓ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US" sz="3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</m:sSub>
                        <m: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prstClr val="black"/>
                            </a:solidFill>
                          </a:rPr>
                          <m:t>|</m:t>
                        </m:r>
                        <m:sSub>
                          <m:sSubPr>
                            <m:ctrlPr>
                              <a:rPr lang="en-US" sz="3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Dosage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𝒾</m:t>
                            </m:r>
                            <m:r>
                              <a:rPr lang="en-US" sz="3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sub>
                        </m:sSub>
                        <m:r>
                          <a:rPr lang="en-US" sz="3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prstClr val="black"/>
                            </a:solidFill>
                          </a:rPr>
                          <m:t> −2</m:t>
                        </m:r>
                      </m:e>
                    </m:nary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|,</m:t>
                    </m:r>
                  </m:oMath>
                </a14:m>
                <a:endParaRPr lang="en-US" sz="3600" dirty="0">
                  <a:solidFill>
                    <a:prstClr val="black"/>
                  </a:solidFill>
                </a:endParaRPr>
              </a:p>
              <a:p>
                <a:pPr marL="982663"/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sz="3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is the aggregated CNV effect across all positions in fragment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(and hence would depend on the fragment length)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rgbClr val="C00000"/>
                    </a:solidFill>
                  </a:rPr>
                  <a:t>If each study has its own CNV fragment definition,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sz="3600" u="sng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3600" u="sng" dirty="0">
                    <a:solidFill>
                      <a:srgbClr val="C00000"/>
                    </a:solidFill>
                  </a:rPr>
                  <a:t> of the same genomic position</a:t>
                </a:r>
                <a:r>
                  <a:rPr lang="en-US" sz="3600" dirty="0">
                    <a:solidFill>
                      <a:srgbClr val="C00000"/>
                    </a:solidFill>
                  </a:rPr>
                  <a:t> is comparable across different studies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3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 is not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prstClr val="black"/>
                    </a:solidFill>
                  </a:rPr>
                  <a:t>Can show that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sz="3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sz="3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 sz="3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sz="3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Length</m:t>
                        </m:r>
                      </m:e>
                      <m:sub>
                        <m:r>
                          <a:rPr lang="en-US" sz="3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(i.e.,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length</m:t>
                            </m:r>
                          </m:e>
                          <m:sub>
                            <m:r>
                              <a:rPr lang="en-US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600" dirty="0">
                    <a:solidFill>
                      <a:prstClr val="black"/>
                    </a:solidFill>
                  </a:rPr>
                  <a:t> is comparable across different studies)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53B78C5-245A-493E-B20F-2E79FF2C16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39" y="29134218"/>
                <a:ext cx="16820893" cy="9712274"/>
              </a:xfrm>
              <a:prstGeom prst="rect">
                <a:avLst/>
              </a:prstGeom>
              <a:blipFill>
                <a:blip r:embed="rId18"/>
                <a:stretch>
                  <a:fillRect l="-1305" t="-377" r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0B191BA-9649-4508-9EA0-A1C938B170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" y="12208103"/>
            <a:ext cx="17270821" cy="810577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6C822DD-7373-483E-ABA6-1AEC37D1212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309963" y="685461"/>
            <a:ext cx="7937719" cy="19211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C52FD0D-3312-470A-B8F9-BE7AB43E2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-236971" y="-17228"/>
            <a:ext cx="29306792" cy="1959937"/>
          </a:xfrm>
          <a:prstGeom prst="rect">
            <a:avLst/>
          </a:prstGeom>
          <a:noFill/>
        </p:spPr>
        <p:txBody>
          <a:bodyPr wrap="square" lIns="295060" tIns="147531" rIns="295060" bIns="147531" rtlCol="0">
            <a:spAutoFit/>
          </a:bodyPr>
          <a:lstStyle>
            <a:defPPr>
              <a:defRPr lang="en-US"/>
            </a:defPPr>
            <a:lvl1pPr algn="ctr">
              <a:defRPr sz="4800" b="1"/>
            </a:lvl1pPr>
          </a:lstStyle>
          <a:p>
            <a:r>
              <a:rPr lang="en-US" sz="3600" dirty="0"/>
              <a:t>American Society of Human Genetics Annual Meeting 2023</a:t>
            </a:r>
          </a:p>
          <a:p>
            <a:r>
              <a:rPr lang="en-US" sz="3600" dirty="0"/>
              <a:t>Washington, DC</a:t>
            </a:r>
          </a:p>
          <a:p>
            <a:r>
              <a:rPr lang="en-US" sz="3600" dirty="0"/>
              <a:t>10/31/2023 - 11/5/2023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9AB7A4-126F-46E8-92F0-0A636992A8A3}"/>
              </a:ext>
            </a:extLst>
          </p:cNvPr>
          <p:cNvSpPr txBox="1"/>
          <p:nvPr/>
        </p:nvSpPr>
        <p:spPr>
          <a:xfrm>
            <a:off x="2977308" y="4400610"/>
            <a:ext cx="251485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cs typeface="Lato" panose="020F0502020204030203" pitchFamily="34" charset="0"/>
              </a:rPr>
              <a:t>Yaqin Si</a:t>
            </a:r>
            <a:r>
              <a:rPr lang="en-US" sz="3200" baseline="30000" dirty="0">
                <a:cs typeface="Lato" panose="020F0502020204030203" pitchFamily="34" charset="0"/>
              </a:rPr>
              <a:t>1</a:t>
            </a:r>
            <a:r>
              <a:rPr lang="en-US" sz="3200" dirty="0">
                <a:cs typeface="Lato" panose="020F0502020204030203" pitchFamily="34" charset="0"/>
              </a:rPr>
              <a:t>, </a:t>
            </a:r>
            <a:r>
              <a:rPr lang="en-US" sz="3200" dirty="0" err="1">
                <a:cs typeface="Lato" panose="020F0502020204030203" pitchFamily="34" charset="0"/>
              </a:rPr>
              <a:t>Wenbin</a:t>
            </a:r>
            <a:r>
              <a:rPr lang="en-US" sz="3200" dirty="0">
                <a:cs typeface="Lato" panose="020F0502020204030203" pitchFamily="34" charset="0"/>
              </a:rPr>
              <a:t> Lu</a:t>
            </a:r>
            <a:r>
              <a:rPr lang="en-US" sz="3200" baseline="30000" dirty="0">
                <a:cs typeface="Lato" panose="020F0502020204030203" pitchFamily="34" charset="0"/>
              </a:rPr>
              <a:t>1</a:t>
            </a:r>
            <a:r>
              <a:rPr lang="en-US" sz="3200" dirty="0">
                <a:cs typeface="Lato" panose="020F0502020204030203" pitchFamily="34" charset="0"/>
              </a:rPr>
              <a:t>, Albert A. Tucci</a:t>
            </a:r>
            <a:r>
              <a:rPr lang="en-US" sz="3200" baseline="30000" dirty="0">
                <a:cs typeface="Lato" panose="020F0502020204030203" pitchFamily="34" charset="0"/>
              </a:rPr>
              <a:t>1</a:t>
            </a:r>
            <a:r>
              <a:rPr lang="en-US" sz="3200" dirty="0">
                <a:cs typeface="Lato" panose="020F0502020204030203" pitchFamily="34" charset="0"/>
              </a:rPr>
              <a:t>, Hui Wang</a:t>
            </a:r>
            <a:r>
              <a:rPr lang="en-US" sz="3200" baseline="30000" dirty="0">
                <a:cs typeface="Lato" panose="020F0502020204030203" pitchFamily="34" charset="0"/>
              </a:rPr>
              <a:t>2</a:t>
            </a:r>
            <a:r>
              <a:rPr lang="en-US" sz="3200" dirty="0">
                <a:cs typeface="Lato" panose="020F0502020204030203" pitchFamily="34" charset="0"/>
              </a:rPr>
              <a:t>, </a:t>
            </a:r>
            <a:r>
              <a:rPr lang="en-US" sz="3200" dirty="0" err="1">
                <a:cs typeface="Lato" panose="020F0502020204030203" pitchFamily="34" charset="0"/>
              </a:rPr>
              <a:t>Yuhuan</a:t>
            </a:r>
            <a:r>
              <a:rPr lang="en-US" sz="3200" dirty="0">
                <a:cs typeface="Lato" panose="020F0502020204030203" pitchFamily="34" charset="0"/>
              </a:rPr>
              <a:t> Cheng</a:t>
            </a:r>
            <a:r>
              <a:rPr lang="en-US" sz="3200" baseline="30000" dirty="0">
                <a:cs typeface="Lato" panose="020F0502020204030203" pitchFamily="34" charset="0"/>
              </a:rPr>
              <a:t>1</a:t>
            </a:r>
            <a:r>
              <a:rPr lang="en-US" sz="3200" dirty="0">
                <a:cs typeface="Lato" panose="020F0502020204030203" pitchFamily="34" charset="0"/>
              </a:rPr>
              <a:t>, Li-San Wang</a:t>
            </a:r>
            <a:r>
              <a:rPr lang="en-US" sz="3200" baseline="30000" dirty="0">
                <a:cs typeface="Lato" panose="020F0502020204030203" pitchFamily="34" charset="0"/>
              </a:rPr>
              <a:t>2</a:t>
            </a:r>
            <a:r>
              <a:rPr lang="en-US" sz="3200" dirty="0">
                <a:cs typeface="Lato" panose="020F0502020204030203" pitchFamily="34" charset="0"/>
              </a:rPr>
              <a:t>, Gerard Schellenberger</a:t>
            </a:r>
            <a:r>
              <a:rPr lang="en-US" sz="3200" baseline="30000" dirty="0">
                <a:cs typeface="Lato" panose="020F0502020204030203" pitchFamily="34" charset="0"/>
              </a:rPr>
              <a:t>2</a:t>
            </a:r>
            <a:r>
              <a:rPr lang="en-US" sz="3200" dirty="0">
                <a:cs typeface="Lato" panose="020F0502020204030203" pitchFamily="34" charset="0"/>
              </a:rPr>
              <a:t>, Wan-Ping Lee</a:t>
            </a:r>
            <a:r>
              <a:rPr lang="en-US" sz="3200" baseline="30000" dirty="0">
                <a:cs typeface="Lato" panose="020F0502020204030203" pitchFamily="34" charset="0"/>
              </a:rPr>
              <a:t>2</a:t>
            </a:r>
            <a:r>
              <a:rPr lang="en-US" sz="3200" dirty="0">
                <a:cs typeface="Lato" panose="020F0502020204030203" pitchFamily="34" charset="0"/>
              </a:rPr>
              <a:t>, Jung-Ying Tzeng</a:t>
            </a:r>
            <a:r>
              <a:rPr lang="en-US" sz="3200" baseline="30000" dirty="0">
                <a:cs typeface="Lato" panose="020F0502020204030203" pitchFamily="34" charset="0"/>
              </a:rPr>
              <a:t>1</a:t>
            </a:r>
            <a:endParaRPr lang="en-US" sz="3200" dirty="0">
              <a:cs typeface="Lato" panose="020F0502020204030203" pitchFamily="34" charset="0"/>
            </a:endParaRPr>
          </a:p>
          <a:p>
            <a:r>
              <a:rPr lang="en-US" sz="3200" dirty="0">
                <a:cs typeface="Lato" panose="020F0502020204030203" pitchFamily="34" charset="0"/>
              </a:rPr>
              <a:t>1. North Carolina State University, Raleigh, NC, United States. 2. University of Pennsylvania, Philadelphia, PA, United States.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CFD5C7-CC5A-428F-9466-E9E97DD4B8F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58753" y="788918"/>
            <a:ext cx="5207361" cy="163935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3F675E4-CD7C-494F-BCC4-5AD26E1F735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0874" y="897683"/>
            <a:ext cx="1461534" cy="146153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442D892-8723-42D6-BB46-90BACC66FBE3}"/>
              </a:ext>
            </a:extLst>
          </p:cNvPr>
          <p:cNvSpPr txBox="1"/>
          <p:nvPr/>
        </p:nvSpPr>
        <p:spPr>
          <a:xfrm>
            <a:off x="75828" y="5597523"/>
            <a:ext cx="17150289" cy="1036607"/>
          </a:xfrm>
          <a:prstGeom prst="rect">
            <a:avLst/>
          </a:prstGeom>
          <a:noFill/>
        </p:spPr>
        <p:txBody>
          <a:bodyPr wrap="square" lIns="295060" tIns="147531" rIns="295060" bIns="147531" rtlCol="0">
            <a:spAutoFit/>
          </a:bodyPr>
          <a:lstStyle/>
          <a:p>
            <a:pPr algn="ctr"/>
            <a:r>
              <a:rPr lang="en-US" sz="4800" b="1" dirty="0"/>
              <a:t>Goal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74D810-677C-4232-9A9A-05CE73D08870}"/>
              </a:ext>
            </a:extLst>
          </p:cNvPr>
          <p:cNvSpPr txBox="1"/>
          <p:nvPr/>
        </p:nvSpPr>
        <p:spPr>
          <a:xfrm>
            <a:off x="67798" y="21317919"/>
            <a:ext cx="17381132" cy="1036607"/>
          </a:xfrm>
          <a:prstGeom prst="rect">
            <a:avLst/>
          </a:prstGeom>
          <a:noFill/>
        </p:spPr>
        <p:txBody>
          <a:bodyPr wrap="square" lIns="295060" tIns="147531" rIns="295060" bIns="147531" rtlCol="0">
            <a:spAutoFit/>
          </a:bodyPr>
          <a:lstStyle/>
          <a:p>
            <a:pPr algn="ctr"/>
            <a:r>
              <a:rPr lang="en-US" sz="4800" b="1" dirty="0"/>
              <a:t>Methods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00BB4F-3081-434E-AD91-8E9B751255E2}"/>
              </a:ext>
            </a:extLst>
          </p:cNvPr>
          <p:cNvSpPr txBox="1"/>
          <p:nvPr/>
        </p:nvSpPr>
        <p:spPr>
          <a:xfrm>
            <a:off x="17225854" y="26195825"/>
            <a:ext cx="12306302" cy="3621930"/>
          </a:xfrm>
          <a:prstGeom prst="rect">
            <a:avLst/>
          </a:prstGeom>
          <a:noFill/>
        </p:spPr>
        <p:txBody>
          <a:bodyPr wrap="square" lIns="295060" tIns="147531" rIns="295060" bIns="147531" rtlCol="0">
            <a:spAutoFit/>
          </a:bodyPr>
          <a:lstStyle/>
          <a:p>
            <a:r>
              <a:rPr lang="en-US" sz="3600" b="1" dirty="0"/>
              <a:t>The proposed models </a:t>
            </a:r>
            <a:r>
              <a:rPr lang="en-US" sz="3600" dirty="0"/>
              <a:t>show: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Better variable selection performance </a:t>
            </a:r>
            <a:r>
              <a:rPr lang="en-US" sz="3600" dirty="0"/>
              <a:t>(higher TPR, lower FPR, and higher G-measure) than the Lasso models.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Better effect size estimation performance </a:t>
            </a:r>
            <a:r>
              <a:rPr lang="en-US" sz="3600" dirty="0"/>
              <a:t>(Lower/equivalent MSE in Causal region and Null region) than Lasso models.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2C82770-1B34-4548-BC8B-633BD6F037C8}"/>
              </a:ext>
            </a:extLst>
          </p:cNvPr>
          <p:cNvCxnSpPr/>
          <p:nvPr/>
        </p:nvCxnSpPr>
        <p:spPr>
          <a:xfrm flipH="1">
            <a:off x="4437948" y="24283062"/>
            <a:ext cx="497412" cy="529386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EDBA490-8E77-4C77-8360-5ED467A930BE}"/>
              </a:ext>
            </a:extLst>
          </p:cNvPr>
          <p:cNvCxnSpPr>
            <a:cxnSpLocks/>
          </p:cNvCxnSpPr>
          <p:nvPr/>
        </p:nvCxnSpPr>
        <p:spPr>
          <a:xfrm>
            <a:off x="6684597" y="24089252"/>
            <a:ext cx="492922" cy="356714"/>
          </a:xfrm>
          <a:prstGeom prst="straightConnector1">
            <a:avLst/>
          </a:prstGeom>
          <a:ln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7BD16F4-C882-4655-AF38-393447F8B07B}"/>
              </a:ext>
            </a:extLst>
          </p:cNvPr>
          <p:cNvSpPr/>
          <p:nvPr/>
        </p:nvSpPr>
        <p:spPr>
          <a:xfrm>
            <a:off x="7231579" y="23738120"/>
            <a:ext cx="6436460" cy="1575277"/>
          </a:xfrm>
          <a:custGeom>
            <a:avLst/>
            <a:gdLst>
              <a:gd name="connsiteX0" fmla="*/ 369003 w 6752960"/>
              <a:gd name="connsiteY0" fmla="*/ 234275 h 1217255"/>
              <a:gd name="connsiteX1" fmla="*/ 597603 w 6752960"/>
              <a:gd name="connsiteY1" fmla="*/ 165695 h 1217255"/>
              <a:gd name="connsiteX2" fmla="*/ 5969703 w 6752960"/>
              <a:gd name="connsiteY2" fmla="*/ 28535 h 1217255"/>
              <a:gd name="connsiteX3" fmla="*/ 6746943 w 6752960"/>
              <a:gd name="connsiteY3" fmla="*/ 782915 h 1217255"/>
              <a:gd name="connsiteX4" fmla="*/ 6266883 w 6752960"/>
              <a:gd name="connsiteY4" fmla="*/ 1217255 h 121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2960" h="1217255">
                <a:moveTo>
                  <a:pt x="369003" y="234275"/>
                </a:moveTo>
                <a:cubicBezTo>
                  <a:pt x="16578" y="217130"/>
                  <a:pt x="-335847" y="199985"/>
                  <a:pt x="597603" y="165695"/>
                </a:cubicBezTo>
                <a:cubicBezTo>
                  <a:pt x="1531053" y="131405"/>
                  <a:pt x="4944813" y="-74335"/>
                  <a:pt x="5969703" y="28535"/>
                </a:cubicBezTo>
                <a:cubicBezTo>
                  <a:pt x="6994593" y="131405"/>
                  <a:pt x="6697413" y="584795"/>
                  <a:pt x="6746943" y="782915"/>
                </a:cubicBezTo>
                <a:cubicBezTo>
                  <a:pt x="6796473" y="981035"/>
                  <a:pt x="6531678" y="1099145"/>
                  <a:pt x="6266883" y="1217255"/>
                </a:cubicBezTo>
              </a:path>
            </a:pathLst>
          </a:custGeom>
          <a:noFill/>
          <a:ln w="28575">
            <a:solidFill>
              <a:srgbClr val="4D4D4D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AB5DDF-1B3E-4EC4-988D-B3E3C04BF75B}"/>
                  </a:ext>
                </a:extLst>
              </p:cNvPr>
              <p:cNvSpPr txBox="1"/>
              <p:nvPr/>
            </p:nvSpPr>
            <p:spPr>
              <a:xfrm>
                <a:off x="487153" y="20485307"/>
                <a:ext cx="1215839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sz="3200" dirty="0"/>
                  <a:t>: effect size of CNV fragment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3200" dirty="0"/>
                  <a:t> at genomic position “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3200" dirty="0"/>
                  <a:t>”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3200" dirty="0"/>
                  <a:t> frag 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AB5DDF-1B3E-4EC4-988D-B3E3C04BF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53" y="20485307"/>
                <a:ext cx="12158393" cy="584775"/>
              </a:xfrm>
              <a:prstGeom prst="rect">
                <a:avLst/>
              </a:prstGeom>
              <a:blipFill>
                <a:blip r:embed="rId23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>
            <a:extLst>
              <a:ext uri="{FF2B5EF4-FFF2-40B4-BE49-F238E27FC236}">
                <a16:creationId xmlns:a16="http://schemas.microsoft.com/office/drawing/2014/main" id="{E058FA3A-F425-4E80-BF83-E9DCED5A2908}"/>
              </a:ext>
            </a:extLst>
          </p:cNvPr>
          <p:cNvSpPr txBox="1"/>
          <p:nvPr/>
        </p:nvSpPr>
        <p:spPr>
          <a:xfrm>
            <a:off x="17271205" y="12226761"/>
            <a:ext cx="3752119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1. All CNV fragments in the same CNVR share the same effect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FE0E574-7154-42EE-9A5E-6958B1EB8D17}"/>
              </a:ext>
            </a:extLst>
          </p:cNvPr>
          <p:cNvSpPr txBox="1"/>
          <p:nvPr/>
        </p:nvSpPr>
        <p:spPr>
          <a:xfrm>
            <a:off x="21290022" y="12242102"/>
            <a:ext cx="4296308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2. Part of the CNV fragments in the same CNVR share the same effect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3D84387-A83F-4148-A614-AFB010B46AEC}"/>
              </a:ext>
            </a:extLst>
          </p:cNvPr>
          <p:cNvSpPr txBox="1"/>
          <p:nvPr/>
        </p:nvSpPr>
        <p:spPr>
          <a:xfrm>
            <a:off x="17684307" y="5718493"/>
            <a:ext cx="11494311" cy="1036607"/>
          </a:xfrm>
          <a:prstGeom prst="rect">
            <a:avLst/>
          </a:prstGeom>
          <a:noFill/>
        </p:spPr>
        <p:txBody>
          <a:bodyPr wrap="square" lIns="295060" tIns="147531" rIns="295060" bIns="147531" rtlCol="0">
            <a:spAutoFit/>
          </a:bodyPr>
          <a:lstStyle/>
          <a:p>
            <a:pPr algn="ctr"/>
            <a:r>
              <a:rPr lang="en-US" sz="4800" b="1" dirty="0"/>
              <a:t>Simulation and Real Data Analysis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1FDB13-F5E4-4789-967D-863C6460114E}"/>
              </a:ext>
            </a:extLst>
          </p:cNvPr>
          <p:cNvSpPr txBox="1"/>
          <p:nvPr/>
        </p:nvSpPr>
        <p:spPr>
          <a:xfrm>
            <a:off x="25435612" y="12237640"/>
            <a:ext cx="3634210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3. Part of the CNV fragments in the same CNVR have positive / negative effect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61E86E-05CA-4CDA-AA2D-BC2E06D06F36}"/>
              </a:ext>
            </a:extLst>
          </p:cNvPr>
          <p:cNvSpPr txBox="1"/>
          <p:nvPr/>
        </p:nvSpPr>
        <p:spPr>
          <a:xfrm>
            <a:off x="290874" y="6351989"/>
            <a:ext cx="16934980" cy="5712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90562" indent="-5715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cs typeface="Arial" panose="020B0604020202020204" pitchFamily="34" charset="0"/>
              </a:rPr>
              <a:t>Copy number variants (CNVs) </a:t>
            </a:r>
            <a:r>
              <a:rPr lang="en-US" sz="3600" dirty="0">
                <a:cs typeface="Arial" panose="020B0604020202020204" pitchFamily="34" charset="0"/>
              </a:rPr>
              <a:t>are DNA gains or losses involving at least 50bp. </a:t>
            </a:r>
          </a:p>
          <a:p>
            <a:pPr marL="690562" indent="-5715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cs typeface="Arial" panose="020B0604020202020204" pitchFamily="34" charset="0"/>
              </a:rPr>
              <a:t>We propose a statistical method for estimating CNV effects on phenotype.</a:t>
            </a:r>
          </a:p>
          <a:p>
            <a:pPr marL="690562" indent="-5715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CF0000"/>
                </a:solidFill>
                <a:cs typeface="Arial" panose="020B0604020202020204" pitchFamily="34" charset="0"/>
              </a:rPr>
              <a:t>Properties of the proposed methods:</a:t>
            </a:r>
          </a:p>
          <a:p>
            <a:pPr marL="1085850" lvl="1" indent="-428625">
              <a:buFont typeface="Arial" panose="020B0604020202020204" pitchFamily="34" charset="0"/>
              <a:buChar char="•"/>
            </a:pPr>
            <a:r>
              <a:rPr lang="en-US" sz="3600" dirty="0">
                <a:cs typeface="Arial" panose="020B0604020202020204" pitchFamily="34" charset="0"/>
              </a:rPr>
              <a:t>Incorporate </a:t>
            </a:r>
            <a:r>
              <a:rPr lang="en-US" sz="3600" b="1" dirty="0">
                <a:cs typeface="Arial" panose="020B0604020202020204" pitchFamily="34" charset="0"/>
              </a:rPr>
              <a:t>multiple CNV features </a:t>
            </a:r>
            <a:r>
              <a:rPr lang="en-US" sz="3600" dirty="0">
                <a:cs typeface="Arial" panose="020B0604020202020204" pitchFamily="34" charset="0"/>
              </a:rPr>
              <a:t>(see Figure 1)</a:t>
            </a:r>
          </a:p>
          <a:p>
            <a:pPr marL="1657350" lvl="2" indent="-461963">
              <a:buFont typeface="Calibri" panose="020F0502020204030204" pitchFamily="34" charset="0"/>
              <a:buChar char="–"/>
              <a:tabLst>
                <a:tab pos="1657350" algn="l"/>
              </a:tabLst>
            </a:pPr>
            <a:r>
              <a:rPr lang="en-US" sz="3600" dirty="0">
                <a:cs typeface="Arial" panose="020B0604020202020204" pitchFamily="34" charset="0"/>
              </a:rPr>
              <a:t>Dosage (duplication vs. deletion, number of extra copies)</a:t>
            </a:r>
          </a:p>
          <a:p>
            <a:pPr marL="1657350" lvl="2" indent="-461963">
              <a:buFont typeface="Calibri" panose="020F0502020204030204" pitchFamily="34" charset="0"/>
              <a:buChar char="–"/>
              <a:tabLst>
                <a:tab pos="1657350" algn="l"/>
              </a:tabLst>
            </a:pPr>
            <a:r>
              <a:rPr lang="en-US" sz="3600" dirty="0">
                <a:cs typeface="Arial" panose="020B0604020202020204" pitchFamily="34" charset="0"/>
              </a:rPr>
              <a:t>Length</a:t>
            </a:r>
          </a:p>
          <a:p>
            <a:pPr marL="1085850" lvl="1" indent="-428625">
              <a:buFont typeface="Arial" panose="020B0604020202020204" pitchFamily="34" charset="0"/>
              <a:buChar char="•"/>
            </a:pPr>
            <a:r>
              <a:rPr lang="en-US" sz="3600" dirty="0">
                <a:cs typeface="Arial" panose="020B0604020202020204" pitchFamily="34" charset="0"/>
              </a:rPr>
              <a:t>Assess the joint effect of all CNV events within a genomic region</a:t>
            </a:r>
            <a:endParaRPr lang="en-US" sz="3600" b="1" dirty="0">
              <a:cs typeface="Arial" panose="020B0604020202020204" pitchFamily="34" charset="0"/>
            </a:endParaRPr>
          </a:p>
          <a:p>
            <a:pPr marL="1085850" lvl="1" indent="-4286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cs typeface="Arial" panose="020B0604020202020204" pitchFamily="34" charset="0"/>
              </a:rPr>
              <a:t>Avoid arbitrary CNV region definition </a:t>
            </a:r>
          </a:p>
          <a:p>
            <a:pPr marL="1085850" lvl="1" indent="-42862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cs typeface="Arial" panose="020B0604020202020204" pitchFamily="34" charset="0"/>
              </a:rPr>
              <a:t>Allow CNV effects comparable across different studies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D5BC982-96D9-4E45-99CB-968D43C72C45}"/>
              </a:ext>
            </a:extLst>
          </p:cNvPr>
          <p:cNvSpPr/>
          <p:nvPr/>
        </p:nvSpPr>
        <p:spPr>
          <a:xfrm>
            <a:off x="133734" y="12187153"/>
            <a:ext cx="17071793" cy="26662068"/>
          </a:xfrm>
          <a:prstGeom prst="rect">
            <a:avLst/>
          </a:prstGeom>
          <a:noFill/>
          <a:ln w="31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5060" tIns="147531" rIns="295060" bIns="147531" rtlCol="0" anchor="ctr"/>
          <a:lstStyle/>
          <a:p>
            <a:pPr algn="ctr"/>
            <a:endParaRPr lang="en-US" sz="739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E1F49C-639C-43E4-AF78-31AE07FB2730}"/>
              </a:ext>
            </a:extLst>
          </p:cNvPr>
          <p:cNvSpPr/>
          <p:nvPr/>
        </p:nvSpPr>
        <p:spPr>
          <a:xfrm>
            <a:off x="133733" y="5541667"/>
            <a:ext cx="17071794" cy="6522655"/>
          </a:xfrm>
          <a:prstGeom prst="rect">
            <a:avLst/>
          </a:prstGeom>
          <a:noFill/>
          <a:ln w="31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5060" tIns="147531" rIns="295060" bIns="147531" rtlCol="0" anchor="ctr"/>
          <a:lstStyle/>
          <a:p>
            <a:pPr algn="ctr"/>
            <a:endParaRPr lang="en-US" sz="739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6701783-C7C4-4012-86ED-8719095BDBFC}"/>
              </a:ext>
            </a:extLst>
          </p:cNvPr>
          <p:cNvSpPr/>
          <p:nvPr/>
        </p:nvSpPr>
        <p:spPr>
          <a:xfrm>
            <a:off x="13614763" y="18006016"/>
            <a:ext cx="4062015" cy="300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cs typeface="Arial" panose="020B0604020202020204" pitchFamily="34" charset="0"/>
              </a:rPr>
              <a:t>Figure 1:  CNV fragments and the effects within CNV duplication and deletion regions  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C074ADC-C868-4628-8297-B933A62EF39B}"/>
              </a:ext>
            </a:extLst>
          </p:cNvPr>
          <p:cNvSpPr/>
          <p:nvPr/>
        </p:nvSpPr>
        <p:spPr>
          <a:xfrm>
            <a:off x="18011794" y="25552490"/>
            <a:ext cx="10634924" cy="643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cs typeface="Arial" panose="020B0604020202020204" pitchFamily="34" charset="0"/>
              </a:rPr>
              <a:t>Figure 2:  Simulation results under different effect scenarios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76F7CF1-29EE-4346-A233-D5069EC31688}"/>
              </a:ext>
            </a:extLst>
          </p:cNvPr>
          <p:cNvSpPr/>
          <p:nvPr/>
        </p:nvSpPr>
        <p:spPr>
          <a:xfrm>
            <a:off x="26249006" y="30144856"/>
            <a:ext cx="3101212" cy="5371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cs typeface="Arial" panose="020B0604020202020204" pitchFamily="34" charset="0"/>
              </a:rPr>
              <a:t>Figure 3: Gene ontology (GO) enrichment analysis for Alzheimer’s Diseases associated genes identified by different models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5A4166-4EAF-41BF-A838-A36A4A633893}"/>
              </a:ext>
            </a:extLst>
          </p:cNvPr>
          <p:cNvSpPr txBox="1"/>
          <p:nvPr/>
        </p:nvSpPr>
        <p:spPr>
          <a:xfrm>
            <a:off x="17296592" y="36027511"/>
            <a:ext cx="11856246" cy="2821711"/>
          </a:xfrm>
          <a:prstGeom prst="rect">
            <a:avLst/>
          </a:prstGeom>
          <a:solidFill>
            <a:schemeClr val="bg1"/>
          </a:solidFill>
        </p:spPr>
        <p:txBody>
          <a:bodyPr wrap="square" lIns="295060" tIns="147531" rIns="295060" bIns="147531" rtlCol="0">
            <a:spAutoFit/>
          </a:bodyPr>
          <a:lstStyle/>
          <a:p>
            <a:r>
              <a:rPr lang="en-US" sz="3600" b="1" dirty="0"/>
              <a:t>The proposed models </a:t>
            </a:r>
            <a:r>
              <a:rPr lang="en-US" sz="3600" dirty="0"/>
              <a:t>identify</a:t>
            </a:r>
            <a:r>
              <a:rPr lang="en-US" sz="3600" b="1" dirty="0"/>
              <a:t> additional enriched genes in </a:t>
            </a:r>
            <a:r>
              <a:rPr lang="en-US" sz="3600" dirty="0"/>
              <a:t>pathways related to </a:t>
            </a:r>
            <a:r>
              <a:rPr lang="en-US" sz="3600" b="1" dirty="0"/>
              <a:t>neuron structure and function</a:t>
            </a:r>
            <a:r>
              <a:rPr lang="en-US" sz="3600" dirty="0"/>
              <a:t>.  </a:t>
            </a:r>
          </a:p>
          <a:p>
            <a:endParaRPr lang="en-US" sz="1200" b="1" dirty="0"/>
          </a:p>
          <a:p>
            <a:r>
              <a:rPr lang="en-US" sz="4400" b="1" dirty="0"/>
              <a:t>Future work</a:t>
            </a:r>
            <a:r>
              <a:rPr lang="en-US" sz="4400" dirty="0"/>
              <a:t>: </a:t>
            </a:r>
            <a:r>
              <a:rPr lang="en-US" sz="3600" dirty="0"/>
              <a:t>Apply to other phenotype-CNV association analysis, develop an R package for easy application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861E9C1-76DC-44D8-87A8-1C9D2160BF69}"/>
              </a:ext>
            </a:extLst>
          </p:cNvPr>
          <p:cNvSpPr/>
          <p:nvPr/>
        </p:nvSpPr>
        <p:spPr>
          <a:xfrm rot="5400000">
            <a:off x="6545158" y="16267323"/>
            <a:ext cx="33307556" cy="11856245"/>
          </a:xfrm>
          <a:prstGeom prst="rect">
            <a:avLst/>
          </a:prstGeom>
          <a:noFill/>
          <a:ln w="3175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95060" tIns="147531" rIns="295060" bIns="147531" rtlCol="0" anchor="ctr"/>
          <a:lstStyle/>
          <a:p>
            <a:pPr algn="ctr"/>
            <a:endParaRPr lang="en-US" sz="739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6A9C6F-96D9-D820-067D-27DA3C7D3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760746" y="2244260"/>
            <a:ext cx="23675147" cy="2329269"/>
          </a:xfrm>
          <a:prstGeom prst="rect">
            <a:avLst/>
          </a:prstGeom>
          <a:noFill/>
        </p:spPr>
        <p:txBody>
          <a:bodyPr wrap="square" lIns="295060" tIns="147531" rIns="295060" bIns="147531" rtlCol="0">
            <a:spAutoFit/>
          </a:bodyPr>
          <a:lstStyle>
            <a:defPPr>
              <a:defRPr lang="en-US"/>
            </a:defPPr>
            <a:lvl1pPr algn="ctr">
              <a:defRPr sz="4800" b="1"/>
            </a:lvl1pPr>
          </a:lstStyle>
          <a:p>
            <a:r>
              <a:rPr lang="en-US" sz="6600" dirty="0"/>
              <a:t>Estimating Association Effects of Copy Number Variants Using Penalized Regression with Lasso and Weighted Fusion Penalties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A9E67B237E9B4E956BCD70E86C1921" ma:contentTypeVersion="0" ma:contentTypeDescription="Create a new document." ma:contentTypeScope="" ma:versionID="798ee2faec946261094ba1eb5c54ccd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fd9267828ec1420f9565a7d19b767c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85EDFE-8E47-4342-BD82-0CEA006234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BA2455C-A3A6-4B0A-980B-233BDA69C29C}">
  <ds:schemaRefs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B9A7B7D-58CE-4192-9B5C-145EFE5B5F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6657</TotalTime>
  <Words>703</Words>
  <Application>Microsoft Office PowerPoint</Application>
  <PresentationFormat>Custom</PresentationFormat>
  <Paragraphs>88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Cambria Math</vt:lpstr>
      <vt:lpstr>Lato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Title, PI</dc:title>
  <dc:creator>Gene P</dc:creator>
  <cp:lastModifiedBy>Yaqin Si</cp:lastModifiedBy>
  <cp:revision>444</cp:revision>
  <dcterms:created xsi:type="dcterms:W3CDTF">2016-01-27T15:17:58Z</dcterms:created>
  <dcterms:modified xsi:type="dcterms:W3CDTF">2024-04-12T07:28:51Z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0x010100A6A9E67B237E9B4E956BCD70E86C1921</vt:lpwstr>
  </property>
</Properties>
</file>